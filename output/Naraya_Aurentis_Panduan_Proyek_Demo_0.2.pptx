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e43e84872e436b" /><Relationship Type="http://schemas.openxmlformats.org/officeDocument/2006/relationships/extended-properties" Target="/docProps/app.xml" Id="Ra4e5f6bf4f704fbb" /><Relationship Type="http://schemas.openxmlformats.org/officeDocument/2006/relationships/officeDocument" Target="/ppt/presentation.xml" Id="R5da34c97ebfc43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4b774cd58e4532"/>
  </p:sldMasterIdLst>
  <p:notesMasterIdLst>
    <p:notesMasterId xmlns:r="http://schemas.openxmlformats.org/officeDocument/2006/relationships" r:id="Rf2e9dd413371413e"/>
  </p:notesMasterIdLst>
  <p:sldIdLst>
    <p:sldId xmlns:r="http://schemas.openxmlformats.org/officeDocument/2006/relationships" id="256" r:id="Re2927559c9884502"/>
    <p:sldId xmlns:r="http://schemas.openxmlformats.org/officeDocument/2006/relationships" id="257" r:id="R351667b273664a35"/>
    <p:sldId xmlns:r="http://schemas.openxmlformats.org/officeDocument/2006/relationships" id="258" r:id="R12f48ec98d604e47"/>
    <p:sldId xmlns:r="http://schemas.openxmlformats.org/officeDocument/2006/relationships" id="259" r:id="R926d87ae44244986"/>
    <p:sldId xmlns:r="http://schemas.openxmlformats.org/officeDocument/2006/relationships" id="260" r:id="Rf5b69059f3164c25"/>
    <p:sldId xmlns:r="http://schemas.openxmlformats.org/officeDocument/2006/relationships" id="261" r:id="R1faf155ce3df4eb2"/>
    <p:sldId xmlns:r="http://schemas.openxmlformats.org/officeDocument/2006/relationships" id="262" r:id="Rcc33fbcbdf6c411a"/>
    <p:sldId xmlns:r="http://schemas.openxmlformats.org/officeDocument/2006/relationships" id="263" r:id="R4e1a72ae8b374623"/>
    <p:sldId xmlns:r="http://schemas.openxmlformats.org/officeDocument/2006/relationships" id="264" r:id="Rc45e870c17184634"/>
    <p:sldId xmlns:r="http://schemas.openxmlformats.org/officeDocument/2006/relationships" id="265" r:id="R3b29e3d555c34e13"/>
    <p:sldId xmlns:r="http://schemas.openxmlformats.org/officeDocument/2006/relationships" id="266" r:id="R460b1f40f10444aa"/>
    <p:sldId xmlns:r="http://schemas.openxmlformats.org/officeDocument/2006/relationships" id="267" r:id="Rf816f110612742f5"/>
    <p:sldId xmlns:r="http://schemas.openxmlformats.org/officeDocument/2006/relationships" id="268" r:id="R956661b8f0da4757"/>
    <p:sldId xmlns:r="http://schemas.openxmlformats.org/officeDocument/2006/relationships" id="269" r:id="R73e4887daf444daa"/>
    <p:sldId xmlns:r="http://schemas.openxmlformats.org/officeDocument/2006/relationships" id="270" r:id="R3343b5ca4f6a483c"/>
    <p:sldId xmlns:r="http://schemas.openxmlformats.org/officeDocument/2006/relationships" id="271" r:id="Rf2ab663a146d4197"/>
    <p:sldId xmlns:r="http://schemas.openxmlformats.org/officeDocument/2006/relationships" id="272" r:id="R2a05ff18ff634d9f"/>
    <p:sldId xmlns:r="http://schemas.openxmlformats.org/officeDocument/2006/relationships" id="273" r:id="Rc291c0eb134f4387"/>
    <p:sldId xmlns:r="http://schemas.openxmlformats.org/officeDocument/2006/relationships" id="274" r:id="R913beeed500d426c"/>
    <p:sldId xmlns:r="http://schemas.openxmlformats.org/officeDocument/2006/relationships" id="275" r:id="R08283b13930342e1"/>
    <p:sldId xmlns:r="http://schemas.openxmlformats.org/officeDocument/2006/relationships" id="276" r:id="R3ae0c00d7a904caf"/>
    <p:sldId xmlns:r="http://schemas.openxmlformats.org/officeDocument/2006/relationships" id="277" r:id="R35a1dea138154bf9"/>
    <p:sldId xmlns:r="http://schemas.openxmlformats.org/officeDocument/2006/relationships" id="278" r:id="R52be28bae18d4520"/>
    <p:sldId xmlns:r="http://schemas.openxmlformats.org/officeDocument/2006/relationships" id="279" r:id="R60a23034e1a84b70"/>
    <p:sldId xmlns:r="http://schemas.openxmlformats.org/officeDocument/2006/relationships" id="280" r:id="R43eb088339144c98"/>
    <p:sldId xmlns:r="http://schemas.openxmlformats.org/officeDocument/2006/relationships" id="281" r:id="R2f5c0c244ed94189"/>
    <p:sldId xmlns:r="http://schemas.openxmlformats.org/officeDocument/2006/relationships" id="282" r:id="R4dbb4b7715bf4fdd"/>
    <p:sldId xmlns:r="http://schemas.openxmlformats.org/officeDocument/2006/relationships" id="283" r:id="Rb83906404c334a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1e3b5aa85b4652" /><Relationship Type="http://schemas.openxmlformats.org/officeDocument/2006/relationships/slideMaster" Target="/ppt/slideMasters/slideMaster1.xml" Id="Rb74b774cd58e4532" /><Relationship Type="http://schemas.openxmlformats.org/officeDocument/2006/relationships/notesMaster" Target="/ppt/notesMasters/notesMaster1.xml" Id="Rf2e9dd413371413e" /><Relationship Type="http://schemas.openxmlformats.org/officeDocument/2006/relationships/presProps" Target="/ppt/presProps.xml" Id="R6ff5d8d1456744cd" /><Relationship Type="http://schemas.openxmlformats.org/officeDocument/2006/relationships/tableStyles" Target="/ppt/tableStyles.xml" Id="Red98464ea559419b" /><Relationship Type="http://schemas.openxmlformats.org/officeDocument/2006/relationships/slide" Target="/ppt/slides/slide1.xml" Id="Re2927559c9884502" /><Relationship Type="http://schemas.openxmlformats.org/officeDocument/2006/relationships/slide" Target="/ppt/slides/slide2.xml" Id="R351667b273664a35" /><Relationship Type="http://schemas.openxmlformats.org/officeDocument/2006/relationships/slide" Target="/ppt/slides/slide3.xml" Id="R12f48ec98d604e47" /><Relationship Type="http://schemas.openxmlformats.org/officeDocument/2006/relationships/slide" Target="/ppt/slides/slide4.xml" Id="R926d87ae44244986" /><Relationship Type="http://schemas.openxmlformats.org/officeDocument/2006/relationships/slide" Target="/ppt/slides/slide5.xml" Id="Rf5b69059f3164c25" /><Relationship Type="http://schemas.openxmlformats.org/officeDocument/2006/relationships/slide" Target="/ppt/slides/slide6.xml" Id="R1faf155ce3df4eb2" /><Relationship Type="http://schemas.openxmlformats.org/officeDocument/2006/relationships/slide" Target="/ppt/slides/slide7.xml" Id="Rcc33fbcbdf6c411a" /><Relationship Type="http://schemas.openxmlformats.org/officeDocument/2006/relationships/slide" Target="/ppt/slides/slide8.xml" Id="R4e1a72ae8b374623" /><Relationship Type="http://schemas.openxmlformats.org/officeDocument/2006/relationships/slide" Target="/ppt/slides/slide9.xml" Id="Rc45e870c17184634" /><Relationship Type="http://schemas.openxmlformats.org/officeDocument/2006/relationships/slide" Target="/ppt/slides/slide10.xml" Id="R3b29e3d555c34e13" /><Relationship Type="http://schemas.openxmlformats.org/officeDocument/2006/relationships/slide" Target="/ppt/slides/slide11.xml" Id="R460b1f40f10444aa" /><Relationship Type="http://schemas.openxmlformats.org/officeDocument/2006/relationships/slide" Target="/ppt/slides/slide12.xml" Id="Rf816f110612742f5" /><Relationship Type="http://schemas.openxmlformats.org/officeDocument/2006/relationships/slide" Target="/ppt/slides/slide13.xml" Id="R956661b8f0da4757" /><Relationship Type="http://schemas.openxmlformats.org/officeDocument/2006/relationships/slide" Target="/ppt/slides/slide14.xml" Id="R73e4887daf444daa" /><Relationship Type="http://schemas.openxmlformats.org/officeDocument/2006/relationships/slide" Target="/ppt/slides/slide15.xml" Id="R3343b5ca4f6a483c" /><Relationship Type="http://schemas.openxmlformats.org/officeDocument/2006/relationships/slide" Target="/ppt/slides/slide16.xml" Id="Rf2ab663a146d4197" /><Relationship Type="http://schemas.openxmlformats.org/officeDocument/2006/relationships/slide" Target="/ppt/slides/slide17.xml" Id="R2a05ff18ff634d9f" /><Relationship Type="http://schemas.openxmlformats.org/officeDocument/2006/relationships/slide" Target="/ppt/slides/slide18.xml" Id="Rc291c0eb134f4387" /><Relationship Type="http://schemas.openxmlformats.org/officeDocument/2006/relationships/slide" Target="/ppt/slides/slide19.xml" Id="R913beeed500d426c" /><Relationship Type="http://schemas.openxmlformats.org/officeDocument/2006/relationships/slide" Target="/ppt/slides/slide20.xml" Id="R08283b13930342e1" /><Relationship Type="http://schemas.openxmlformats.org/officeDocument/2006/relationships/slide" Target="/ppt/slides/slide21.xml" Id="R3ae0c00d7a904caf" /><Relationship Type="http://schemas.openxmlformats.org/officeDocument/2006/relationships/slide" Target="/ppt/slides/slide22.xml" Id="R35a1dea138154bf9" /><Relationship Type="http://schemas.openxmlformats.org/officeDocument/2006/relationships/slide" Target="/ppt/slides/slide23.xml" Id="R52be28bae18d4520" /><Relationship Type="http://schemas.openxmlformats.org/officeDocument/2006/relationships/slide" Target="/ppt/slides/slide24.xml" Id="R60a23034e1a84b70" /><Relationship Type="http://schemas.openxmlformats.org/officeDocument/2006/relationships/slide" Target="/ppt/slides/slide25.xml" Id="R43eb088339144c98" /><Relationship Type="http://schemas.openxmlformats.org/officeDocument/2006/relationships/slide" Target="/ppt/slides/slide26.xml" Id="R2f5c0c244ed94189" /><Relationship Type="http://schemas.openxmlformats.org/officeDocument/2006/relationships/slide" Target="/ppt/slides/slide27.xml" Id="R4dbb4b7715bf4fdd" /><Relationship Type="http://schemas.openxmlformats.org/officeDocument/2006/relationships/slide" Target="/ppt/slides/slide28.xml" Id="Rb83906404c334a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c45fe24a2843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994e8bad274ab9" /><Relationship Type="http://schemas.openxmlformats.org/officeDocument/2006/relationships/notesMaster" Target="/ppt/notesMasters/notesMaster1.xml" Id="Rd6d9258dcb834a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4ec4d25dc9434c" /><Relationship Type="http://schemas.openxmlformats.org/officeDocument/2006/relationships/notesMaster" Target="/ppt/notesMasters/notesMaster1.xml" Id="Ra2cb4dd1348e40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6f7edf22cc441b" /><Relationship Type="http://schemas.openxmlformats.org/officeDocument/2006/relationships/notesMaster" Target="/ppt/notesMasters/notesMaster1.xml" Id="R150037a1235a4b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af10f29ef34837" /><Relationship Type="http://schemas.openxmlformats.org/officeDocument/2006/relationships/notesMaster" Target="/ppt/notesMasters/notesMaster1.xml" Id="Rde0b98dcfc5843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45a2e336e24c20" /><Relationship Type="http://schemas.openxmlformats.org/officeDocument/2006/relationships/notesMaster" Target="/ppt/notesMasters/notesMaster1.xml" Id="R58110465904f40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ecce84c2e3422e" /><Relationship Type="http://schemas.openxmlformats.org/officeDocument/2006/relationships/notesMaster" Target="/ppt/notesMasters/notesMaster1.xml" Id="R04bb9a02e86a40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ff86edc69d47a2" /><Relationship Type="http://schemas.openxmlformats.org/officeDocument/2006/relationships/notesMaster" Target="/ppt/notesMasters/notesMaster1.xml" Id="R6f7f3357af7f4d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60fbc98f4041fd" /><Relationship Type="http://schemas.openxmlformats.org/officeDocument/2006/relationships/notesMaster" Target="/ppt/notesMasters/notesMaster1.xml" Id="Rd75083f5c04e48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2934bd5babe4d08" /><Relationship Type="http://schemas.openxmlformats.org/officeDocument/2006/relationships/notesMaster" Target="/ppt/notesMasters/notesMaster1.xml" Id="R8c7dd7f91908497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3aa6a0aa0a4201" /><Relationship Type="http://schemas.openxmlformats.org/officeDocument/2006/relationships/notesMaster" Target="/ppt/notesMasters/notesMaster1.xml" Id="R3f7b095896ec443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cb6b849f164a90" /><Relationship Type="http://schemas.openxmlformats.org/officeDocument/2006/relationships/notesMaster" Target="/ppt/notesMasters/notesMaster1.xml" Id="Rd50b93808cbe468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0a83114959f4cdb" /><Relationship Type="http://schemas.openxmlformats.org/officeDocument/2006/relationships/notesMaster" Target="/ppt/notesMasters/notesMaster1.xml" Id="Rb47c896009f8494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76ee522d4214a82" /><Relationship Type="http://schemas.openxmlformats.org/officeDocument/2006/relationships/notesMaster" Target="/ppt/notesMasters/notesMaster1.xml" Id="Rb5e78abb960d4a2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03618c9a9704366" /><Relationship Type="http://schemas.openxmlformats.org/officeDocument/2006/relationships/notesMaster" Target="/ppt/notesMasters/notesMaster1.xml" Id="R2d0e3fbd97f7445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10b04bde51d4b31" /><Relationship Type="http://schemas.openxmlformats.org/officeDocument/2006/relationships/notesMaster" Target="/ppt/notesMasters/notesMaster1.xml" Id="R878717c6d40945e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456772102514fe0" /><Relationship Type="http://schemas.openxmlformats.org/officeDocument/2006/relationships/notesMaster" Target="/ppt/notesMasters/notesMaster1.xml" Id="Rc985ca8b1fa24eb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41b060df4054495" /><Relationship Type="http://schemas.openxmlformats.org/officeDocument/2006/relationships/notesMaster" Target="/ppt/notesMasters/notesMaster1.xml" Id="Rfbf31dcec4af43a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d34356371bc4029" /><Relationship Type="http://schemas.openxmlformats.org/officeDocument/2006/relationships/notesMaster" Target="/ppt/notesMasters/notesMaster1.xml" Id="Rb5a8381c8527456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f3c90cbd8f2431e" /><Relationship Type="http://schemas.openxmlformats.org/officeDocument/2006/relationships/notesMaster" Target="/ppt/notesMasters/notesMaster1.xml" Id="R9cd4dd9a37a14cd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efcc3d48049459d" /><Relationship Type="http://schemas.openxmlformats.org/officeDocument/2006/relationships/notesMaster" Target="/ppt/notesMasters/notesMaster1.xml" Id="R59cb6625474645b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1c154bcb5394c69" /><Relationship Type="http://schemas.openxmlformats.org/officeDocument/2006/relationships/notesMaster" Target="/ppt/notesMasters/notesMaster1.xml" Id="Rfb8a6b4699de49f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341c5b80904420e" /><Relationship Type="http://schemas.openxmlformats.org/officeDocument/2006/relationships/notesMaster" Target="/ppt/notesMasters/notesMaster1.xml" Id="R1b0c9c528004464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34c2e69642f4925" /><Relationship Type="http://schemas.openxmlformats.org/officeDocument/2006/relationships/notesMaster" Target="/ppt/notesMasters/notesMaster1.xml" Id="Rcaa7198250834e1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c144dac3ca14963" /><Relationship Type="http://schemas.openxmlformats.org/officeDocument/2006/relationships/notesMaster" Target="/ppt/notesMasters/notesMaster1.xml" Id="Rcdcc1faf72de4c3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b5f7f55fd5146e3" /><Relationship Type="http://schemas.openxmlformats.org/officeDocument/2006/relationships/notesMaster" Target="/ppt/notesMasters/notesMaster1.xml" Id="R1a6b064a68414d5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da959a93359483e" /><Relationship Type="http://schemas.openxmlformats.org/officeDocument/2006/relationships/notesMaster" Target="/ppt/notesMasters/notesMaster1.xml" Id="R288f5678a7bc488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a29ca93698549de" /><Relationship Type="http://schemas.openxmlformats.org/officeDocument/2006/relationships/notesMaster" Target="/ppt/notesMasters/notesMaster1.xml" Id="Rec707659932247d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e01ac6b999349f3" /><Relationship Type="http://schemas.openxmlformats.org/officeDocument/2006/relationships/notesMaster" Target="/ppt/notesMasters/notesMaster1.xml" Id="Re1d0293d0fd248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Identitas merek berasal dari logo pengguna. Versi transparan merupakan adaptasi logo untuk antarmuka. Sistem dan seluruh akun pada materi ini hanya untuk demo lokal.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source code dan dokumentasi NAM DMS demo lokal, 19 Oktober 2026. Semua akun, pasien, pekerjaan dan nominal contoh merupakan data fiktif.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tangkapan layar demo lokal 01-login.jpg, 19 Oktober 2026. Perilaku diverifikasi melalui antarmuka dan suite backend/tests. Data fiktif.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source code dan dokumentasi NAM DMS demo lokal, 19 Oktober 2026. Semua akun, pasien, pekerjaan dan nominal contoh merupakan data fiktif.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source code dan dokumentasi NAM DMS demo lokal, 19 Oktober 2026. Semua akun, pasien, pekerjaan dan nominal contoh merupakan data fiktif.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source code dan dokumentasi NAM DMS demo lokal, 19 Oktober 2026. Semua akun, pasien, pekerjaan dan nominal contoh merupakan data fiktif.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tangkapan layar demo lokal 02-dashboard.jpg, 19 Oktober 2026. Perilaku diverifikasi melalui antarmuka dan suite backend/tests. Data fiktif.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tangkapan layar demo lokal 05-pasien-jadwal.jpg, 19 Oktober 2026. Perilaku diverifikasi melalui antarmuka dan suite backend/tests. Data fiktif.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tangkapan layar demo lokal 06-surat-kerja.jpg, 19 Oktober 2026. Perilaku diverifikasi melalui antarmuka dan suite backend/tests. Data fiktif.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tangkapan layar demo lokal 03-orders.jpg, 19 Oktober 2026. Perilaku diverifikasi melalui antarmuka dan suite backend/tests. Data fiktif.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tangkapan layar demo lokal 04-detail-order.jpg, 19 Oktober 2026. Perilaku diverifikasi melalui antarmuka dan suite backend/tests. Data fiktif.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tangkapan layar demo lokal 07-rencana-produksi.jpg, 19 Oktober 2026. Perilaku diverifikasi melalui antarmuka dan suite backend/tests. Data fiktif.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tangkapan layar demo lokal 08-qc.jpg, 19 Oktober 2026. Perilaku diverifikasi melalui antarmuka dan suite backend/tests. Data fiktif.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tangkapan layar demo lokal 09-hasil-siap.jpg, 19 Oktober 2026. Perilaku diverifikasi melalui antarmuka dan suite backend/tests. Data fiktif.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source code dan dokumentasi NAM DMS demo lokal, 19 Oktober 2026. Semua akun, pasien, pekerjaan dan nominal contoh merupakan data fiktif.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tangkapan layar demo lokal 10-pembayaran-pending.jpg, 19 Oktober 2026. Perilaku diverifikasi melalui antarmuka dan suite backend/tests. Data fiktif.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tangkapan layar demo lokal 11-keuangan-terverifikasi.jpg, 19 Oktober 2026. Perilaku diverifikasi melalui antarmuka dan suite backend/tests. Data fiktif.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tangkapan layar demo lokal 19-mitra.jpg, 19 Oktober 2026. Perilaku diverifikasi melalui antarmuka dan suite backend/tests. Data fiktif.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tangkapan layar demo lokal 18-pemberitahuan.jpg, 19 Oktober 2026. Perilaku diverifikasi melalui antarmuka dan suite backend/tests. Data fiktif.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tangkapan layar demo lokal 12-chat-asisten.jpg, 19 Oktober 2026. Perilaku diverifikasi melalui antarmuka dan suite backend/tests. Data fiktif.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tangkapan layar demo lokal 14-cs-antrean.jpg, 19 Oktober 2026. Perilaku diverifikasi melalui antarmuka dan suite backend/tests. Data fiktif.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tangkapan layar demo lokal 15-cs-percakapan.jpg, 19 Oktober 2026. Perilaku diverifikasi melalui antarmuka dan suite backend/tests. Data fiktif.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tangkapan layar demo lokal 20-laporan.jpg, 19 Oktober 2026. Perilaku diverifikasi melalui antarmuka dan suite backend/tests. Data fiktif.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tangkapan layar demo lokal 21-audit.jpg, 19 Oktober 2026. Perilaku diverifikasi melalui antarmuka dan suite backend/tests. Data fiktif.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tangkapan layar demo lokal 17-mobile.jpg, 19 Oktober 2026. Perilaku diverifikasi melalui antarmuka dan suite backend/tests. Data fiktif.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source code dan dokumentasi NAM DMS demo lokal, 19 Oktober 2026. Semua akun, pasien, pekerjaan dan nominal contoh merupakan data fiktif.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source code dan dokumentasi NAM DMS demo lokal, 19 Oktober 2026. Semua akun, pasien, pekerjaan dan nominal contoh merupakan data fiktif.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source code dan dokumentasi NAM DMS demo lokal, 19 Oktober 2026. Semua akun, pasien, pekerjaan dan nominal contoh merupakan data fiktif.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c2e7bebef146e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22d514ba8745c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72fe6418054e7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d85b26c2a64c0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32686e88114c5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d013bcdee84c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C32046-3BD7-4787-9279-62D1E41C1A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8612A89-CB52-4A00-89AE-D85C4895E87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D136668-F563-485A-8E10-24E095F62B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701DF6-091B-402F-AAB4-FB77D0ADB1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EF31B90-9E4E-4D3C-80EF-07D1F6FAA8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A58A3CC-E832-47CD-B481-3505051CC8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1BB2635-B4C7-4F5F-80CF-8326BAC81A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605985E-7763-4CB1-A9B4-688ABDE45F1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8B9CD9-6AE1-4BB4-B568-C9B769C7D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B66F0D2-D5DF-4D19-8809-9991362233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8e622ddb7f4d9a" /><Relationship Type="http://schemas.openxmlformats.org/officeDocument/2006/relationships/slideLayout" Target="/ppt/slideLayouts/slideLayout1.xml" Id="R33ded9c6bffe42cd" /><Relationship Type="http://schemas.openxmlformats.org/officeDocument/2006/relationships/slideLayout" Target="/ppt/slideLayouts/slideLayout2.xml" Id="R54e81307a5d14daf" /><Relationship Type="http://schemas.openxmlformats.org/officeDocument/2006/relationships/slideLayout" Target="/ppt/slideLayouts/slideLayout3.xml" Id="R5c90dac199af4ce8" /><Relationship Type="http://schemas.openxmlformats.org/officeDocument/2006/relationships/slideLayout" Target="/ppt/slideLayouts/slideLayout4.xml" Id="Re1d2de77c6384ea8" /><Relationship Type="http://schemas.openxmlformats.org/officeDocument/2006/relationships/slideLayout" Target="/ppt/slideLayouts/slideLayout5.xml" Id="R89da75dabacf4906" /><Relationship Type="http://schemas.openxmlformats.org/officeDocument/2006/relationships/slideLayout" Target="/ppt/slideLayouts/slideLayout6.xml" Id="Ref53889eb1da43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ded9c6bffe42cd"/>
    <p:sldLayoutId xmlns:r="http://schemas.openxmlformats.org/officeDocument/2006/relationships" id="2147483650" r:id="R54e81307a5d14daf"/>
    <p:sldLayoutId xmlns:r="http://schemas.openxmlformats.org/officeDocument/2006/relationships" id="2147483651" r:id="R5c90dac199af4ce8"/>
    <p:sldLayoutId xmlns:r="http://schemas.openxmlformats.org/officeDocument/2006/relationships" id="2147483652" r:id="Re1d2de77c6384ea8"/>
    <p:sldLayoutId xmlns:r="http://schemas.openxmlformats.org/officeDocument/2006/relationships" id="2147483653" r:id="R89da75dabacf4906"/>
    <p:sldLayoutId xmlns:r="http://schemas.openxmlformats.org/officeDocument/2006/relationships" id="2147483654" r:id="Ref53889eb1da43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96247f710d463d" /><Relationship Type="http://schemas.openxmlformats.org/officeDocument/2006/relationships/image" Target="/ppt/media/image.png" Id="R70f00074d0564eb7" /><Relationship Type="http://schemas.openxmlformats.org/officeDocument/2006/relationships/notesSlide" Target="/ppt/notesSlides/notesSlide1.xml" Id="Rf9e5e75f88ba4e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f8a0a961e04c4c" /><Relationship Type="http://schemas.openxmlformats.org/officeDocument/2006/relationships/notesSlide" Target="/ppt/notesSlides/notesSlide2.xml" Id="Rb2867152e3504f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4c29e0008a4c8c" /><Relationship Type="http://schemas.openxmlformats.org/officeDocument/2006/relationships/image" Target="/ppt/media/image.jpeg" Id="Rb5f59efd30494f52" /><Relationship Type="http://schemas.openxmlformats.org/officeDocument/2006/relationships/notesSlide" Target="/ppt/notesSlides/notesSlide3.xml" Id="R1fe76b771ab14d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f4928a4824411f" /><Relationship Type="http://schemas.openxmlformats.org/officeDocument/2006/relationships/notesSlide" Target="/ppt/notesSlides/notesSlide4.xml" Id="R76cf63d0cc8c49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ceaf28bf044f4e" /><Relationship Type="http://schemas.openxmlformats.org/officeDocument/2006/relationships/notesSlide" Target="/ppt/notesSlides/notesSlide5.xml" Id="R6c4f8f2c66e64e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dd8f056dc94e6b" /><Relationship Type="http://schemas.openxmlformats.org/officeDocument/2006/relationships/notesSlide" Target="/ppt/notesSlides/notesSlide6.xml" Id="R132fd7672da741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4d234956424ebc" /><Relationship Type="http://schemas.openxmlformats.org/officeDocument/2006/relationships/image" Target="/ppt/media/image2.jpeg" Id="R80aba0890b6b4311" /><Relationship Type="http://schemas.openxmlformats.org/officeDocument/2006/relationships/notesSlide" Target="/ppt/notesSlides/notesSlide7.xml" Id="Re208a0c4d78e4e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a4bfaa1ee44df0" /><Relationship Type="http://schemas.openxmlformats.org/officeDocument/2006/relationships/image" Target="/ppt/media/image3.jpeg" Id="Rddf9adc0b19f42be" /><Relationship Type="http://schemas.openxmlformats.org/officeDocument/2006/relationships/notesSlide" Target="/ppt/notesSlides/notesSlide8.xml" Id="Rd94af487801442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a566b3c3654e1a" /><Relationship Type="http://schemas.openxmlformats.org/officeDocument/2006/relationships/image" Target="/ppt/media/image4.jpeg" Id="Rd1d0dc48c69148ec" /><Relationship Type="http://schemas.openxmlformats.org/officeDocument/2006/relationships/notesSlide" Target="/ppt/notesSlides/notesSlide9.xml" Id="Ra4ec9767db3b4b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982b5b014849a1" /><Relationship Type="http://schemas.openxmlformats.org/officeDocument/2006/relationships/image" Target="/ppt/media/image5.jpeg" Id="R7b37a273344549e3" /><Relationship Type="http://schemas.openxmlformats.org/officeDocument/2006/relationships/notesSlide" Target="/ppt/notesSlides/notesSlide10.xml" Id="Re754425adbb64b8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6be1c0ed044201" /><Relationship Type="http://schemas.openxmlformats.org/officeDocument/2006/relationships/image" Target="/ppt/media/image6.jpeg" Id="R3782ca4a8c0d4084" /><Relationship Type="http://schemas.openxmlformats.org/officeDocument/2006/relationships/notesSlide" Target="/ppt/notesSlides/notesSlide11.xml" Id="Rb8d1119c53384f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5dd977e9ae4857" /><Relationship Type="http://schemas.openxmlformats.org/officeDocument/2006/relationships/image" Target="/ppt/media/image7.jpeg" Id="R6cfdd93a7e124b61" /><Relationship Type="http://schemas.openxmlformats.org/officeDocument/2006/relationships/notesSlide" Target="/ppt/notesSlides/notesSlide12.xml" Id="R1c1768215eaa4d4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8b535b21194712" /><Relationship Type="http://schemas.openxmlformats.org/officeDocument/2006/relationships/image" Target="/ppt/media/image8.jpeg" Id="R262359dc446b4e05" /><Relationship Type="http://schemas.openxmlformats.org/officeDocument/2006/relationships/notesSlide" Target="/ppt/notesSlides/notesSlide13.xml" Id="R2567f88f94a448a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dda2d005b44355" /><Relationship Type="http://schemas.openxmlformats.org/officeDocument/2006/relationships/image" Target="/ppt/media/image9.jpeg" Id="R5f55d8da48e64282" /><Relationship Type="http://schemas.openxmlformats.org/officeDocument/2006/relationships/notesSlide" Target="/ppt/notesSlides/notesSlide14.xml" Id="R853436c1aa564d1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582ee7261b467a" /><Relationship Type="http://schemas.openxmlformats.org/officeDocument/2006/relationships/notesSlide" Target="/ppt/notesSlides/notesSlide15.xml" Id="Rbf5f9784d166447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1353f1d7884361" /><Relationship Type="http://schemas.openxmlformats.org/officeDocument/2006/relationships/image" Target="/ppt/media/image10.jpeg" Id="R8a11886cb24845ec" /><Relationship Type="http://schemas.openxmlformats.org/officeDocument/2006/relationships/notesSlide" Target="/ppt/notesSlides/notesSlide16.xml" Id="Rd02593dac57f43a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a8dbf5f9f44a96" /><Relationship Type="http://schemas.openxmlformats.org/officeDocument/2006/relationships/image" Target="/ppt/media/image11.jpeg" Id="R492b0ab3ef9a41ec" /><Relationship Type="http://schemas.openxmlformats.org/officeDocument/2006/relationships/notesSlide" Target="/ppt/notesSlides/notesSlide17.xml" Id="R51a26264556f497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7d57ead02c4af1" /><Relationship Type="http://schemas.openxmlformats.org/officeDocument/2006/relationships/image" Target="/ppt/media/image12.jpeg" Id="R85263d9bc3fb4b25" /><Relationship Type="http://schemas.openxmlformats.org/officeDocument/2006/relationships/notesSlide" Target="/ppt/notesSlides/notesSlide18.xml" Id="R26f75cdcdc124eb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a1111727fb42f5" /><Relationship Type="http://schemas.openxmlformats.org/officeDocument/2006/relationships/image" Target="/ppt/media/image13.jpeg" Id="R496b32676cc14fc4" /><Relationship Type="http://schemas.openxmlformats.org/officeDocument/2006/relationships/notesSlide" Target="/ppt/notesSlides/notesSlide19.xml" Id="Rf843f072d5834a2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5f4bc7da9042d5" /><Relationship Type="http://schemas.openxmlformats.org/officeDocument/2006/relationships/image" Target="/ppt/media/image14.jpeg" Id="R8a0a115b8a154556" /><Relationship Type="http://schemas.openxmlformats.org/officeDocument/2006/relationships/notesSlide" Target="/ppt/notesSlides/notesSlide20.xml" Id="R041e4b39dab5473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b8bfd61a6c4d92" /><Relationship Type="http://schemas.openxmlformats.org/officeDocument/2006/relationships/image" Target="/ppt/media/image15.jpeg" Id="R42fbe3994d1a4cb3" /><Relationship Type="http://schemas.openxmlformats.org/officeDocument/2006/relationships/notesSlide" Target="/ppt/notesSlides/notesSlide21.xml" Id="R56ffc544393c4b0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142c0ced8f4cd5" /><Relationship Type="http://schemas.openxmlformats.org/officeDocument/2006/relationships/image" Target="/ppt/media/image16.jpeg" Id="R19dfc6f064854a3b" /><Relationship Type="http://schemas.openxmlformats.org/officeDocument/2006/relationships/notesSlide" Target="/ppt/notesSlides/notesSlide22.xml" Id="R79c36d034e13429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3eebfb7d574f57" /><Relationship Type="http://schemas.openxmlformats.org/officeDocument/2006/relationships/image" Target="/ppt/media/image17.jpeg" Id="R0611dc44e2474499" /><Relationship Type="http://schemas.openxmlformats.org/officeDocument/2006/relationships/notesSlide" Target="/ppt/notesSlides/notesSlide23.xml" Id="R5a0a50dcfcd54cf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3fd71d1f3e481a" /><Relationship Type="http://schemas.openxmlformats.org/officeDocument/2006/relationships/image" Target="/ppt/media/image18.jpeg" Id="R9e9f000f43b34131" /><Relationship Type="http://schemas.openxmlformats.org/officeDocument/2006/relationships/notesSlide" Target="/ppt/notesSlides/notesSlide24.xml" Id="Re4a12a3cf51849c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4d60021e1d4e0f" /><Relationship Type="http://schemas.openxmlformats.org/officeDocument/2006/relationships/image" Target="/ppt/media/image19.jpeg" Id="R7984f9b9bdc147a7" /><Relationship Type="http://schemas.openxmlformats.org/officeDocument/2006/relationships/notesSlide" Target="/ppt/notesSlides/notesSlide25.xml" Id="Rb5f005aeb5db495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5e931786f945e5" /><Relationship Type="http://schemas.openxmlformats.org/officeDocument/2006/relationships/notesSlide" Target="/ppt/notesSlides/notesSlide26.xml" Id="R8c0f809bca5b44b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9e502a49454c13" /><Relationship Type="http://schemas.openxmlformats.org/officeDocument/2006/relationships/notesSlide" Target="/ppt/notesSlides/notesSlide27.xml" Id="R66687fdcf96e43e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ad4abb46314197" /><Relationship Type="http://schemas.openxmlformats.org/officeDocument/2006/relationships/notesSlide" Target="/ppt/notesSlides/notesSlide28.xml" Id="R2c012049a12347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536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2E3A9CFC-48ED-4918-9777-F7AF897E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ADBAA5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ADBAA5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ADBAA5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ADBAA5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ADBAA5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ADBAA5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ADBAA5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ADBAA5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ADBAA5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ADBAA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DBAA5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ADBAA5"/>
                </a:solidFill>
                <a:latin typeface="Segoe UI"/>
                <a:ea typeface="Segoe UI"/>
                <a:cs typeface="Segoe UI"/>
              </a:rPr>
              <a:t>Naraya Aurentis Monolithic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08E6FFA-2FE6-4DCA-ADAE-BC237912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79760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EF010D9-3751-405D-AC59-FAA8C78C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defPPr>
            <a:lvl1pPr>
              <a:defRPr sz="1650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1pPr>
            <a:lvl2pPr>
              <a:defRPr sz="1650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2pPr>
            <a:lvl3pPr>
              <a:defRPr sz="1650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3pPr>
            <a:lvl4pPr>
              <a:defRPr sz="1650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4pPr>
            <a:lvl5pPr>
              <a:defRPr sz="1650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5pPr>
            <a:lvl6pPr>
              <a:defRPr sz="1650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6pPr>
            <a:lvl7pPr>
              <a:defRPr sz="1650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7pPr>
            <a:lvl8pPr>
              <a:defRPr sz="1650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8pPr>
            <a:lvl9pPr>
              <a:defRPr sz="1650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B79760"/>
                </a:solidFill>
                <a:latin typeface="Segoe UI"/>
                <a:ea typeface="Segoe UI"/>
                <a:cs typeface="Segoe UI"/>
              </a:rPr>
              <a:t>NAM DMS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7B1C65F-2511-4D26-B751-7344D07E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7143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950" b="0">
                <a:solidFill>
                  <a:srgbClr val="F7F3E7"/>
                </a:solidFill>
                <a:latin typeface="Georgia"/>
                <a:ea typeface="Georgia"/>
                <a:cs typeface="Georgia"/>
              </a:defRPr>
            </a:defPPr>
            <a:lvl1pPr>
              <a:defRPr sz="4950" b="0">
                <a:solidFill>
                  <a:srgbClr val="F7F3E7"/>
                </a:solidFill>
                <a:latin typeface="Georgia"/>
                <a:ea typeface="Georgia"/>
                <a:cs typeface="Georgia"/>
              </a:defRPr>
            </a:lvl1pPr>
            <a:lvl2pPr>
              <a:defRPr sz="4950" b="0">
                <a:solidFill>
                  <a:srgbClr val="F7F3E7"/>
                </a:solidFill>
                <a:latin typeface="Georgia"/>
                <a:ea typeface="Georgia"/>
                <a:cs typeface="Georgia"/>
              </a:defRPr>
            </a:lvl2pPr>
            <a:lvl3pPr>
              <a:defRPr sz="4950" b="0">
                <a:solidFill>
                  <a:srgbClr val="F7F3E7"/>
                </a:solidFill>
                <a:latin typeface="Georgia"/>
                <a:ea typeface="Georgia"/>
                <a:cs typeface="Georgia"/>
              </a:defRPr>
            </a:lvl3pPr>
            <a:lvl4pPr>
              <a:defRPr sz="4950" b="0">
                <a:solidFill>
                  <a:srgbClr val="F7F3E7"/>
                </a:solidFill>
                <a:latin typeface="Georgia"/>
                <a:ea typeface="Georgia"/>
                <a:cs typeface="Georgia"/>
              </a:defRPr>
            </a:lvl4pPr>
            <a:lvl5pPr>
              <a:defRPr sz="4950" b="0">
                <a:solidFill>
                  <a:srgbClr val="F7F3E7"/>
                </a:solidFill>
                <a:latin typeface="Georgia"/>
                <a:ea typeface="Georgia"/>
                <a:cs typeface="Georgia"/>
              </a:defRPr>
            </a:lvl5pPr>
            <a:lvl6pPr>
              <a:defRPr sz="4950" b="0">
                <a:solidFill>
                  <a:srgbClr val="F7F3E7"/>
                </a:solidFill>
                <a:latin typeface="Georgia"/>
                <a:ea typeface="Georgia"/>
                <a:cs typeface="Georgia"/>
              </a:defRPr>
            </a:lvl6pPr>
            <a:lvl7pPr>
              <a:defRPr sz="4950" b="0">
                <a:solidFill>
                  <a:srgbClr val="F7F3E7"/>
                </a:solidFill>
                <a:latin typeface="Georgia"/>
                <a:ea typeface="Georgia"/>
                <a:cs typeface="Georgia"/>
              </a:defRPr>
            </a:lvl7pPr>
            <a:lvl8pPr>
              <a:defRPr sz="4950" b="0">
                <a:solidFill>
                  <a:srgbClr val="F7F3E7"/>
                </a:solidFill>
                <a:latin typeface="Georgia"/>
                <a:ea typeface="Georgia"/>
                <a:cs typeface="Georgia"/>
              </a:defRPr>
            </a:lvl8pPr>
            <a:lvl9pPr>
              <a:defRPr sz="4950" b="0">
                <a:solidFill>
                  <a:srgbClr val="F7F3E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4950" b="0">
                <a:solidFill>
                  <a:srgbClr val="F7F3E7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F7F3E7"/>
                </a:solidFill>
                <a:latin typeface="Georgia"/>
                <a:ea typeface="Georgia"/>
                <a:cs typeface="Georgia"/>
              </a:rPr>
              <a:t>Manajemen Klinik</a:t>
            </a:r>
          </a:p>
          <a:p xmlns:a="http://schemas.openxmlformats.org/drawingml/2006/main">
            <a:pPr>
              <a:defRPr sz="4950" b="0">
                <a:solidFill>
                  <a:srgbClr val="F7F3E7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F7F3E7"/>
                </a:solidFill>
                <a:latin typeface="Georgia"/>
                <a:ea typeface="Georgia"/>
                <a:cs typeface="Georgia"/>
              </a:rPr>
              <a:t>&amp; Laboratorium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2E6EE78-97C5-4072-AE18-F4701ACD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AC6B3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BAC6B3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BAC6B3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BAC6B3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BAC6B3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BAC6B3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BAC6B3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BAC6B3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BAC6B3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BAC6B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AC6B3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BAC6B3"/>
                </a:solidFill>
                <a:latin typeface="Segoe UI"/>
                <a:ea typeface="Segoe UI"/>
                <a:cs typeface="Segoe UI"/>
              </a:rPr>
              <a:t>Dokumentasi proyek dan panduan penggunaan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25FE640-D2E6-42A2-9BEB-4F10D4B0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76875"/>
            <a:ext cx="514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BAC6B3"/>
                </a:solidFill>
                <a:latin typeface="Segoe UI"/>
                <a:ea typeface="Segoe UI"/>
                <a:cs typeface="Segoe UI"/>
              </a:defRPr>
            </a:defPPr>
            <a:lvl1pPr>
              <a:defRPr sz="1575" b="0">
                <a:solidFill>
                  <a:srgbClr val="BAC6B3"/>
                </a:solidFill>
                <a:latin typeface="Segoe UI"/>
                <a:ea typeface="Segoe UI"/>
                <a:cs typeface="Segoe UI"/>
              </a:defRPr>
            </a:lvl1pPr>
            <a:lvl2pPr>
              <a:defRPr sz="1575" b="0">
                <a:solidFill>
                  <a:srgbClr val="BAC6B3"/>
                </a:solidFill>
                <a:latin typeface="Segoe UI"/>
                <a:ea typeface="Segoe UI"/>
                <a:cs typeface="Segoe UI"/>
              </a:defRPr>
            </a:lvl2pPr>
            <a:lvl3pPr>
              <a:defRPr sz="1575" b="0">
                <a:solidFill>
                  <a:srgbClr val="BAC6B3"/>
                </a:solidFill>
                <a:latin typeface="Segoe UI"/>
                <a:ea typeface="Segoe UI"/>
                <a:cs typeface="Segoe UI"/>
              </a:defRPr>
            </a:lvl3pPr>
            <a:lvl4pPr>
              <a:defRPr sz="1575" b="0">
                <a:solidFill>
                  <a:srgbClr val="BAC6B3"/>
                </a:solidFill>
                <a:latin typeface="Segoe UI"/>
                <a:ea typeface="Segoe UI"/>
                <a:cs typeface="Segoe UI"/>
              </a:defRPr>
            </a:lvl4pPr>
            <a:lvl5pPr>
              <a:defRPr sz="1575" b="0">
                <a:solidFill>
                  <a:srgbClr val="BAC6B3"/>
                </a:solidFill>
                <a:latin typeface="Segoe UI"/>
                <a:ea typeface="Segoe UI"/>
                <a:cs typeface="Segoe UI"/>
              </a:defRPr>
            </a:lvl5pPr>
            <a:lvl6pPr>
              <a:defRPr sz="1575" b="0">
                <a:solidFill>
                  <a:srgbClr val="BAC6B3"/>
                </a:solidFill>
                <a:latin typeface="Segoe UI"/>
                <a:ea typeface="Segoe UI"/>
                <a:cs typeface="Segoe UI"/>
              </a:defRPr>
            </a:lvl6pPr>
            <a:lvl7pPr>
              <a:defRPr sz="1575" b="0">
                <a:solidFill>
                  <a:srgbClr val="BAC6B3"/>
                </a:solidFill>
                <a:latin typeface="Segoe UI"/>
                <a:ea typeface="Segoe UI"/>
                <a:cs typeface="Segoe UI"/>
              </a:defRPr>
            </a:lvl7pPr>
            <a:lvl8pPr>
              <a:defRPr sz="1575" b="0">
                <a:solidFill>
                  <a:srgbClr val="BAC6B3"/>
                </a:solidFill>
                <a:latin typeface="Segoe UI"/>
                <a:ea typeface="Segoe UI"/>
                <a:cs typeface="Segoe UI"/>
              </a:defRPr>
            </a:lvl8pPr>
            <a:lvl9pPr>
              <a:defRPr sz="1575" b="0">
                <a:solidFill>
                  <a:srgbClr val="BAC6B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AC6B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AC6B3"/>
                </a:solidFill>
                <a:latin typeface="Segoe UI"/>
                <a:ea typeface="Segoe UI"/>
                <a:cs typeface="Segoe UI"/>
              </a:rPr>
              <a:t>Demo lokal 0.2</a:t>
            </a:r>
          </a:p>
          <a:p xmlns:a="http://schemas.openxmlformats.org/drawingml/2006/main">
            <a:pPr>
              <a:defRPr sz="1575" b="0">
                <a:solidFill>
                  <a:srgbClr val="BAC6B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AC6B3"/>
                </a:solidFill>
                <a:latin typeface="Segoe UI"/>
                <a:ea typeface="Segoe UI"/>
                <a:cs typeface="Segoe UI"/>
              </a:rPr>
              <a:t>19 Oktober 2026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BC9CA-1535-4737-B964-7C349D800E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f00074d0564eb7"/>
          <a:stretch xmlns:a="http://schemas.openxmlformats.org/drawingml/2006/main"/>
        </p:blipFill>
        <p:spPr>
          <a:xfrm xmlns:a="http://schemas.openxmlformats.org/drawingml/2006/main">
            <a:off x="8058150" y="1901515"/>
            <a:ext cx="3524250" cy="18929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5799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3813530F-4328-4E18-A3E1-C18632F1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defPPr>
            <a:lvl1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1pPr>
            <a:lvl2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2pPr>
            <a:lvl3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3pPr>
            <a:lvl4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4pPr>
            <a:lvl5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5pPr>
            <a:lvl6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6pPr>
            <a:lvl7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7pPr>
            <a:lvl8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8pPr>
            <a:lvl9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253630"/>
                </a:solidFill>
                <a:latin typeface="Georgia"/>
                <a:ea typeface="Georgia"/>
                <a:cs typeface="Georgia"/>
              </a:rPr>
              <a:t>Ruang lingkup proyek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8B32756-E143-4D03-8F92-66D6DB8A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818B76"/>
                </a:solidFill>
                <a:latin typeface="Segoe UI"/>
                <a:ea typeface="Segoe UI"/>
                <a:cs typeface="Segoe UI"/>
              </a:rPr>
              <a:t>Naraya Aurentis Monolithic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75D21EB-A2E1-40E7-BEC5-31B7BE13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C957F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581D6EE-29D2-41CE-892A-A30816F1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14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365544"/>
                </a:solidFill>
                <a:latin typeface="Segoe UI"/>
                <a:ea typeface="Segoe UI"/>
                <a:cs typeface="Segoe UI"/>
              </a:defRPr>
            </a:defPPr>
            <a:lvl1pPr>
              <a:defRPr sz="2550" b="0">
                <a:solidFill>
                  <a:srgbClr val="365544"/>
                </a:solidFill>
                <a:latin typeface="Segoe UI"/>
                <a:ea typeface="Segoe UI"/>
                <a:cs typeface="Segoe UI"/>
              </a:defRPr>
            </a:lvl1pPr>
            <a:lvl2pPr>
              <a:defRPr sz="2550" b="0">
                <a:solidFill>
                  <a:srgbClr val="365544"/>
                </a:solidFill>
                <a:latin typeface="Segoe UI"/>
                <a:ea typeface="Segoe UI"/>
                <a:cs typeface="Segoe UI"/>
              </a:defRPr>
            </a:lvl2pPr>
            <a:lvl3pPr>
              <a:defRPr sz="2550" b="0">
                <a:solidFill>
                  <a:srgbClr val="365544"/>
                </a:solidFill>
                <a:latin typeface="Segoe UI"/>
                <a:ea typeface="Segoe UI"/>
                <a:cs typeface="Segoe UI"/>
              </a:defRPr>
            </a:lvl3pPr>
            <a:lvl4pPr>
              <a:defRPr sz="2550" b="0">
                <a:solidFill>
                  <a:srgbClr val="365544"/>
                </a:solidFill>
                <a:latin typeface="Segoe UI"/>
                <a:ea typeface="Segoe UI"/>
                <a:cs typeface="Segoe UI"/>
              </a:defRPr>
            </a:lvl4pPr>
            <a:lvl5pPr>
              <a:defRPr sz="2550" b="0">
                <a:solidFill>
                  <a:srgbClr val="365544"/>
                </a:solidFill>
                <a:latin typeface="Segoe UI"/>
                <a:ea typeface="Segoe UI"/>
                <a:cs typeface="Segoe UI"/>
              </a:defRPr>
            </a:lvl5pPr>
            <a:lvl6pPr>
              <a:defRPr sz="2550" b="0">
                <a:solidFill>
                  <a:srgbClr val="365544"/>
                </a:solidFill>
                <a:latin typeface="Segoe UI"/>
                <a:ea typeface="Segoe UI"/>
                <a:cs typeface="Segoe UI"/>
              </a:defRPr>
            </a:lvl6pPr>
            <a:lvl7pPr>
              <a:defRPr sz="2550" b="0">
                <a:solidFill>
                  <a:srgbClr val="365544"/>
                </a:solidFill>
                <a:latin typeface="Segoe UI"/>
                <a:ea typeface="Segoe UI"/>
                <a:cs typeface="Segoe UI"/>
              </a:defRPr>
            </a:lvl7pPr>
            <a:lvl8pPr>
              <a:defRPr sz="2550" b="0">
                <a:solidFill>
                  <a:srgbClr val="365544"/>
                </a:solidFill>
                <a:latin typeface="Segoe UI"/>
                <a:ea typeface="Segoe UI"/>
                <a:cs typeface="Segoe UI"/>
              </a:defRPr>
            </a:lvl8pPr>
            <a:lvl9pPr>
              <a:defRPr sz="2550" b="0">
                <a:solidFill>
                  <a:srgbClr val="36554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365544"/>
                </a:solidFill>
                <a:latin typeface="Segoe UI"/>
                <a:ea typeface="Segoe UI"/>
                <a:cs typeface="Segoe UI"/>
              </a:defRPr>
            </a:pPr>
            <a:r>
              <a:rPr sz="2550" b="0">
                <a:solidFill>
                  <a:srgbClr val="365544"/>
                </a:solidFill>
                <a:latin typeface="Segoe UI"/>
                <a:ea typeface="Segoe UI"/>
                <a:cs typeface="Segoe UI"/>
              </a:rPr>
              <a:t>Klinik dan laboratorium bekerja dalam satu aplikasi, dengan kewenangan yang berbeda.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3ED4E4E-522D-4DB3-8817-1DD3F6F1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53630"/>
                </a:solidFill>
                <a:latin typeface="Segoe UI"/>
                <a:ea typeface="Segoe UI"/>
                <a:cs typeface="Segoe UI"/>
              </a:rPr>
              <a:t>Klinik internal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FC5270A-43E2-4C81-A16B-A5885D96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4857750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Registrasi, jadwal kunjungan, surat kerja dokter, dan portal pasien.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95F3F3E-846A-4DC7-BB9C-34773670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8663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53630"/>
                </a:solidFill>
                <a:latin typeface="Segoe UI"/>
                <a:ea typeface="Segoe UI"/>
                <a:cs typeface="Segoe UI"/>
              </a:rPr>
              <a:t>Laboratorium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C6C61AD-17C6-40B1-A69B-83262234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8713"/>
            <a:ext cx="4857750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Penerimaan pekerjaan, penugasan teknisi, estimasi dan pemeriksaan QC.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77C1D6D-520F-4299-BCE9-6E774DD5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18135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53630"/>
                </a:solidFill>
                <a:latin typeface="Segoe UI"/>
                <a:ea typeface="Segoe UI"/>
                <a:cs typeface="Segoe UI"/>
              </a:rPr>
              <a:t>Keuangan dan pencatatan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E24846CF-305F-4C09-A03B-C0E404D0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581400"/>
            <a:ext cx="4857750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Tagihan, penerimaan, verifikasi FAT, laporan harian, serta audit aktivitas.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C2E4C01-8478-4644-BD1A-B3D8B44A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538663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53630"/>
                </a:solidFill>
                <a:latin typeface="Segoe UI"/>
                <a:ea typeface="Segoe UI"/>
                <a:cs typeface="Segoe UI"/>
              </a:rPr>
              <a:t>Klinik mitra dan bantuan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96CFF3AD-DCEA-453B-83C5-3D3E07D7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938713"/>
            <a:ext cx="4857750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Portal organisasi mitra dan chat yang berlanjut dari asisten ke petugas CS.</a:t>
            </a:r>
          </a:p>
        </p:txBody>
      </p:sp>
    </p:spTree>
    <p:extLst>
      <p:ext uri="{BB962C8B-B14F-4D97-AF65-F5344CB8AC3E}">
        <p14:creationId xmlns:p14="http://schemas.microsoft.com/office/powerpoint/2010/main" val="15833844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7D309022-98B1-4423-A96C-E248AF24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defPPr>
            <a:lvl1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1pPr>
            <a:lvl2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2pPr>
            <a:lvl3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3pPr>
            <a:lvl4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4pPr>
            <a:lvl5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5pPr>
            <a:lvl6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6pPr>
            <a:lvl7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7pPr>
            <a:lvl8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8pPr>
            <a:lvl9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253630"/>
                </a:solidFill>
                <a:latin typeface="Georgia"/>
                <a:ea typeface="Georgia"/>
                <a:cs typeface="Georgia"/>
              </a:rPr>
              <a:t>Masuk ke aplikasi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26C6184-924F-427A-AF85-FE1D0EA7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818B76"/>
                </a:solidFill>
                <a:latin typeface="Segoe UI"/>
                <a:ea typeface="Segoe UI"/>
                <a:cs typeface="Segoe UI"/>
              </a:rPr>
              <a:t>Naraya Aurentis Monolithic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6465184-0D27-4512-884C-710CB6D3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C957F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1970F4C-1B02-45E6-9CEF-2FBFF50D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3476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53630"/>
                </a:solidFill>
                <a:latin typeface="Segoe UI"/>
                <a:ea typeface="Segoe UI"/>
                <a:cs typeface="Segoe UI"/>
              </a:rPr>
              <a:t>Alamat demo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C35AA3C-03FF-436B-8F8F-CB21D98E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3476625" cy="397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http://127.0.0.1:8000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D2D1603-4477-4BE4-A4CC-FE7A45AE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4644"/>
            <a:ext cx="3476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53630"/>
                </a:solidFill>
                <a:latin typeface="Segoe UI"/>
                <a:ea typeface="Segoe UI"/>
                <a:cs typeface="Segoe UI"/>
              </a:rPr>
              <a:t>Akun dan kata sandi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08A065B-5348-47DA-A418-2EA255B7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4694"/>
            <a:ext cx="3476625" cy="104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Pilih divisi pada layar masuk. Semua akun demo memakai DemoNAM2026!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7B9DA98-9779-4BD7-AF6C-D57ED5E8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476625" cy="104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Nama akun pada slide berikut adalah akun fiktif yang sudah tersedia.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467803-B6AA-4D6F-875E-500F32810B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f59efd30494f52"/>
          <a:stretch xmlns:a="http://schemas.openxmlformats.org/drawingml/2006/main"/>
        </p:blipFill>
        <p:spPr>
          <a:xfrm xmlns:a="http://schemas.openxmlformats.org/drawingml/2006/main">
            <a:off x="4729925" y="1571625"/>
            <a:ext cx="6665976" cy="4629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2805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CF79032C-46EA-44AF-8D12-7F35E3F2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defPPr>
            <a:lvl1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1pPr>
            <a:lvl2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2pPr>
            <a:lvl3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3pPr>
            <a:lvl4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4pPr>
            <a:lvl5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5pPr>
            <a:lvl6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6pPr>
            <a:lvl7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7pPr>
            <a:lvl8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8pPr>
            <a:lvl9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253630"/>
                </a:solidFill>
                <a:latin typeface="Georgia"/>
                <a:ea typeface="Georgia"/>
                <a:cs typeface="Georgia"/>
              </a:rPr>
              <a:t>Akun klinik, portal dan layanan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4EFBF03-276B-4290-AAB5-39188916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818B76"/>
                </a:solidFill>
                <a:latin typeface="Segoe UI"/>
                <a:ea typeface="Segoe UI"/>
                <a:cs typeface="Segoe UI"/>
              </a:rPr>
              <a:t>Naraya Aurentis Monolithic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24D75B7-025D-4666-9843-6864AB43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C957F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D28856-6F44-4344-99AD-BC4CF39EA6EE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4191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809750"/>
                <a:gridCol w="3238500"/>
                <a:gridCol w="5772150"/>
              </a:tblGrid>
              <a:tr h="5238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7F3E7"/>
                          </a:solidFill>
                          <a:latin typeface="Segoe UI"/>
                          <a:ea typeface="Segoe UI"/>
                          <a:cs typeface="Segoe UI"/>
                        </a:rPr>
                        <a:t>LOGIN</a:t>
                      </a:r>
                    </a:p>
                  </a:txBody>
                  <a:tcPr marL="142875" marR="142875" marT="114300" marB="114300" anchor="ctr">
                    <a:lnL w="5239">
                      <a:solidFill>
                        <a:srgbClr val="D8DCCF"/>
                      </a:solidFill>
                      <a:prstDash val="solid"/>
                    </a:lnL>
                    <a:lnR w="5239">
                      <a:solidFill>
                        <a:srgbClr val="D8DCCF"/>
                      </a:solidFill>
                      <a:prstDash val="solid"/>
                    </a:lnR>
                    <a:lnT w="5239">
                      <a:solidFill>
                        <a:srgbClr val="D8DCCF"/>
                      </a:solidFill>
                      <a:prstDash val="solid"/>
                    </a:lnT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2536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7F3E7"/>
                          </a:solidFill>
                          <a:latin typeface="Segoe UI"/>
                          <a:ea typeface="Segoe UI"/>
                          <a:cs typeface="Segoe UI"/>
                        </a:rPr>
                        <a:t>NAMA TAMPILAN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T w="5239">
                      <a:solidFill>
                        <a:srgbClr val="D8DCCF"/>
                      </a:solidFill>
                      <a:prstDash val="solid"/>
                    </a:lnT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2536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7F3E7"/>
                          </a:solidFill>
                          <a:latin typeface="Segoe UI"/>
                          <a:ea typeface="Segoe UI"/>
                          <a:cs typeface="Segoe UI"/>
                        </a:rPr>
                        <a:t>TUGAS DALAM DEMO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T w="5239">
                      <a:solidFill>
                        <a:srgbClr val="D8DCCF"/>
                      </a:solidFill>
                      <a:prstDash val="solid"/>
                    </a:lnT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253630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resepsionis</a:t>
                      </a:r>
                    </a:p>
                  </a:txBody>
                  <a:tcPr marL="142875" marR="142875" marT="114300" marB="114300" anchor="ctr">
                    <a:lnL w="5239">
                      <a:solidFill>
                        <a:srgbClr val="D8DCCF"/>
                      </a:solidFill>
                      <a:prstDash val="solid"/>
                    </a:lnL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Resepsionis Demo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Registrasi, jadwal, penugasan, penerimaan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AFAF5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dokter</a:t>
                      </a:r>
                    </a:p>
                  </a:txBody>
                  <a:tcPr marL="142875" marR="142875" marT="114300" marB="114300" anchor="ctr">
                    <a:lnL w="5239">
                      <a:solidFill>
                        <a:srgbClr val="D8DCCF"/>
                      </a:solidFill>
                      <a:prstDash val="solid"/>
                    </a:lnL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4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Dokter Klinik Demo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4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Surat kerja untuk pasien yang dilayani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4F3E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dokter2</a:t>
                      </a:r>
                    </a:p>
                  </a:txBody>
                  <a:tcPr marL="142875" marR="142875" marT="114300" marB="114300" anchor="ctr">
                    <a:lnL w="5239">
                      <a:solidFill>
                        <a:srgbClr val="D8DCCF"/>
                      </a:solidFill>
                      <a:prstDash val="solid"/>
                    </a:lnL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Dokter Klinik 2 Demo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Dokter kedua dan pilihan pengganti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AFAF5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perawat</a:t>
                      </a:r>
                    </a:p>
                  </a:txBody>
                  <a:tcPr marL="142875" marR="142875" marT="114300" marB="114300" anchor="ctr">
                    <a:lnL w="5239">
                      <a:solidFill>
                        <a:srgbClr val="D8DCCF"/>
                      </a:solidFill>
                      <a:prstDash val="solid"/>
                    </a:lnL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4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Perawat Demo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4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Laporan harian divisi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4F3E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pasien</a:t>
                      </a:r>
                    </a:p>
                  </a:txBody>
                  <a:tcPr marL="142875" marR="142875" marT="114300" marB="114300" anchor="ctr">
                    <a:lnL w="5239">
                      <a:solidFill>
                        <a:srgbClr val="D8DCCF"/>
                      </a:solidFill>
                      <a:prstDash val="solid"/>
                    </a:lnL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Pasien Demo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Order sendiri, jadwal dan persetujuan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AFAF5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mitra</a:t>
                      </a:r>
                    </a:p>
                  </a:txBody>
                  <a:tcPr marL="142875" marR="142875" marT="114300" marB="114300" anchor="ctr">
                    <a:lnL w="5239">
                      <a:solidFill>
                        <a:srgbClr val="D8DCCF"/>
                      </a:solidFill>
                      <a:prstDash val="solid"/>
                    </a:lnL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4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Klinik Mitra Demo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4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Kasus anonim, order dan tagihan mitra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4F3E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cs</a:t>
                      </a:r>
                    </a:p>
                  </a:txBody>
                  <a:tcPr marL="142875" marR="142875" marT="114300" marB="114300" anchor="ctr">
                    <a:lnL w="5239">
                      <a:solidFill>
                        <a:srgbClr val="D8DCCF"/>
                      </a:solidFill>
                      <a:prstDash val="solid"/>
                    </a:lnL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Customer Service Demo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Laporan dan percakapan yang diambil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AFA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75513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A1765FA4-1785-40E2-BAE3-D06AF432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defPPr>
            <a:lvl1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1pPr>
            <a:lvl2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2pPr>
            <a:lvl3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3pPr>
            <a:lvl4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4pPr>
            <a:lvl5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5pPr>
            <a:lvl6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6pPr>
            <a:lvl7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7pPr>
            <a:lvl8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8pPr>
            <a:lvl9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253630"/>
                </a:solidFill>
                <a:latin typeface="Georgia"/>
                <a:ea typeface="Georgia"/>
                <a:cs typeface="Georgia"/>
              </a:rPr>
              <a:t>Akun produksi dan keuangan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00B60E0-EFB8-4AB7-9224-212AFED0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818B76"/>
                </a:solidFill>
                <a:latin typeface="Segoe UI"/>
                <a:ea typeface="Segoe UI"/>
                <a:cs typeface="Segoe UI"/>
              </a:rPr>
              <a:t>Naraya Aurentis Monolithic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DAA3D20-E40F-468D-A06B-08FAF954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C957F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78DD67-2AAB-41D8-87CD-E5C34771CDFE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809750"/>
                <a:gridCol w="3238500"/>
                <a:gridCol w="5772150"/>
              </a:tblGrid>
              <a:tr h="571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7F3E7"/>
                          </a:solidFill>
                          <a:latin typeface="Segoe UI"/>
                          <a:ea typeface="Segoe UI"/>
                          <a:cs typeface="Segoe UI"/>
                        </a:rPr>
                        <a:t>LOGIN</a:t>
                      </a:r>
                    </a:p>
                  </a:txBody>
                  <a:tcPr marL="142875" marR="142875" marT="114300" marB="114300" anchor="ctr">
                    <a:lnL w="5239">
                      <a:solidFill>
                        <a:srgbClr val="D8DCCF"/>
                      </a:solidFill>
                      <a:prstDash val="solid"/>
                    </a:lnL>
                    <a:lnR w="5239">
                      <a:solidFill>
                        <a:srgbClr val="D8DCCF"/>
                      </a:solidFill>
                      <a:prstDash val="solid"/>
                    </a:lnR>
                    <a:lnT w="5239">
                      <a:solidFill>
                        <a:srgbClr val="D8DCCF"/>
                      </a:solidFill>
                      <a:prstDash val="solid"/>
                    </a:lnT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2536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7F3E7"/>
                          </a:solidFill>
                          <a:latin typeface="Segoe UI"/>
                          <a:ea typeface="Segoe UI"/>
                          <a:cs typeface="Segoe UI"/>
                        </a:rPr>
                        <a:t>NAMA TAMPILAN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T w="5239">
                      <a:solidFill>
                        <a:srgbClr val="D8DCCF"/>
                      </a:solidFill>
                      <a:prstDash val="solid"/>
                    </a:lnT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2536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7F3E7"/>
                          </a:solidFill>
                          <a:latin typeface="Segoe UI"/>
                          <a:ea typeface="Segoe UI"/>
                          <a:cs typeface="Segoe UI"/>
                        </a:rPr>
                        <a:t>TUGAS DALAM DEMO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T w="5239">
                      <a:solidFill>
                        <a:srgbClr val="D8DCCF"/>
                      </a:solidFill>
                      <a:prstDash val="solid"/>
                    </a:lnT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25363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lab</a:t>
                      </a:r>
                    </a:p>
                  </a:txBody>
                  <a:tcPr marL="142875" marR="142875" marT="114300" marB="114300" anchor="ctr">
                    <a:lnL w="5239">
                      <a:solidFill>
                        <a:srgbClr val="D8DCCF"/>
                      </a:solidFill>
                      <a:prstDash val="solid"/>
                    </a:lnL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Supervisor Lab Demo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Terima order, rencana teknisi dan ETA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AFA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lab2</a:t>
                      </a:r>
                    </a:p>
                  </a:txBody>
                  <a:tcPr marL="142875" marR="142875" marT="114300" marB="114300" anchor="ctr">
                    <a:lnL w="5239">
                      <a:solidFill>
                        <a:srgbClr val="D8DCCF"/>
                      </a:solidFill>
                      <a:prstDash val="solid"/>
                    </a:lnL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4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Supervisor Lab 2 Demo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4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Supervisor kedua pada jadwal simulasi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4F3E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teknisi</a:t>
                      </a:r>
                    </a:p>
                  </a:txBody>
                  <a:tcPr marL="142875" marR="142875" marT="114300" marB="114300" anchor="ctr">
                    <a:lnL w="5239">
                      <a:solidFill>
                        <a:srgbClr val="D8DCCF"/>
                      </a:solidFill>
                      <a:prstDash val="solid"/>
                    </a:lnL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Teknisi Demo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Perbarui pekerjaan yang ditugaskan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AFA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qc</a:t>
                      </a:r>
                    </a:p>
                  </a:txBody>
                  <a:tcPr marL="142875" marR="142875" marT="114300" marB="114300" anchor="ctr">
                    <a:lnL w="5239">
                      <a:solidFill>
                        <a:srgbClr val="D8DCCF"/>
                      </a:solidFill>
                      <a:prstDash val="solid"/>
                    </a:lnL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4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QC Demo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4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Lulus QC atau minta perbaikan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4F3E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fat</a:t>
                      </a:r>
                    </a:p>
                  </a:txBody>
                  <a:tcPr marL="142875" marR="142875" marT="114300" marB="114300" anchor="ctr">
                    <a:lnL w="5239">
                      <a:solidFill>
                        <a:srgbClr val="D8DCCF"/>
                      </a:solidFill>
                      <a:prstDash val="solid"/>
                    </a:lnL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FAT Demo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Verifikasi manual penerimaan demo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AFA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direktur</a:t>
                      </a:r>
                    </a:p>
                  </a:txBody>
                  <a:tcPr marL="142875" marR="142875" marT="114300" marB="114300" anchor="ctr">
                    <a:lnL w="5239">
                      <a:solidFill>
                        <a:srgbClr val="D8DCCF"/>
                      </a:solidFill>
                      <a:prstDash val="solid"/>
                    </a:lnL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4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Direktur Demo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4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Ringkasan, laporan lintas divisi dan audit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4F3E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54592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4BBB810D-191A-4229-BE68-5BBBBC8F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defPPr>
            <a:lvl1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1pPr>
            <a:lvl2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2pPr>
            <a:lvl3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3pPr>
            <a:lvl4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4pPr>
            <a:lvl5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5pPr>
            <a:lvl6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6pPr>
            <a:lvl7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7pPr>
            <a:lvl8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8pPr>
            <a:lvl9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253630"/>
                </a:solidFill>
                <a:latin typeface="Georgia"/>
                <a:ea typeface="Georgia"/>
                <a:cs typeface="Georgia"/>
              </a:rPr>
              <a:t>Akun divisi pendukung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DA9216F-8C64-4EF5-B58B-EF2AA639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818B76"/>
                </a:solidFill>
                <a:latin typeface="Segoe UI"/>
                <a:ea typeface="Segoe UI"/>
                <a:cs typeface="Segoe UI"/>
              </a:rPr>
              <a:t>Naraya Aurentis Monolithic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EC00DA2-61B9-46A9-8E45-0856FC60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C957F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4A73BB4-271D-490F-A30F-CA590D55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Akun berikut sudah dapat masuk dan menulis laporan harian.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BCDB45-CC45-42BC-B517-B4307C2F4DD1}"/>
              </a:ext>
            </a:extLst>
          </p:cNvPr>
          <p:cNvGraphicFramePr/>
          <p:nvPr/>
        </p:nvGraphicFramePr>
        <p:xfrm>
          <a:off xmlns:a="http://schemas.openxmlformats.org/drawingml/2006/main" x="685800" y="2076450"/>
          <a:ext xmlns:a="http://schemas.openxmlformats.org/drawingml/2006/main" cx="10820400" cy="37623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809750"/>
                <a:gridCol w="3238500"/>
                <a:gridCol w="5772150"/>
              </a:tblGrid>
              <a:tr h="53748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7F3E7"/>
                          </a:solidFill>
                          <a:latin typeface="Segoe UI"/>
                          <a:ea typeface="Segoe UI"/>
                          <a:cs typeface="Segoe UI"/>
                        </a:rPr>
                        <a:t>LOGIN</a:t>
                      </a:r>
                    </a:p>
                  </a:txBody>
                  <a:tcPr marL="142875" marR="142875" marT="114300" marB="114300" anchor="ctr">
                    <a:lnL w="5239">
                      <a:solidFill>
                        <a:srgbClr val="D8DCCF"/>
                      </a:solidFill>
                      <a:prstDash val="solid"/>
                    </a:lnL>
                    <a:lnR w="5239">
                      <a:solidFill>
                        <a:srgbClr val="D8DCCF"/>
                      </a:solidFill>
                      <a:prstDash val="solid"/>
                    </a:lnR>
                    <a:lnT w="5239">
                      <a:solidFill>
                        <a:srgbClr val="D8DCCF"/>
                      </a:solidFill>
                      <a:prstDash val="solid"/>
                    </a:lnT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2536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7F3E7"/>
                          </a:solidFill>
                          <a:latin typeface="Segoe UI"/>
                          <a:ea typeface="Segoe UI"/>
                          <a:cs typeface="Segoe UI"/>
                        </a:rPr>
                        <a:t>NAMA TAMPILAN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T w="5239">
                      <a:solidFill>
                        <a:srgbClr val="D8DCCF"/>
                      </a:solidFill>
                      <a:prstDash val="solid"/>
                    </a:lnT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2536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7F3E7"/>
                          </a:solidFill>
                          <a:latin typeface="Segoe UI"/>
                          <a:ea typeface="Segoe UI"/>
                          <a:cs typeface="Segoe UI"/>
                        </a:rPr>
                        <a:t>CAKUPAN SAAT INI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T w="5239">
                      <a:solidFill>
                        <a:srgbClr val="D8DCCF"/>
                      </a:solidFill>
                      <a:prstDash val="solid"/>
                    </a:lnT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253630"/>
                    </a:solidFill>
                  </a:tcPr>
                </a:tc>
              </a:tr>
              <a:tr h="53748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cadcam</a:t>
                      </a:r>
                    </a:p>
                  </a:txBody>
                  <a:tcPr marL="142875" marR="142875" marT="114300" marB="114300" anchor="ctr">
                    <a:lnL w="5239">
                      <a:solidFill>
                        <a:srgbClr val="D8DCCF"/>
                      </a:solidFill>
                      <a:prstDash val="solid"/>
                    </a:lnL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CAD CAM Demo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Laporan harian CAD/CAM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AFAF5"/>
                    </a:solidFill>
                  </a:tcPr>
                </a:tc>
              </a:tr>
              <a:tr h="53748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gudang</a:t>
                      </a:r>
                    </a:p>
                  </a:txBody>
                  <a:tcPr marL="142875" marR="142875" marT="114300" marB="114300" anchor="ctr">
                    <a:lnL w="5239">
                      <a:solidFill>
                        <a:srgbClr val="D8DCCF"/>
                      </a:solidFill>
                      <a:prstDash val="solid"/>
                    </a:lnL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4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Gudang Demo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4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Laporan harian inventaris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4F3ED"/>
                    </a:solidFill>
                  </a:tcPr>
                </a:tc>
              </a:tr>
              <a:tr h="53748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purchasing</a:t>
                      </a:r>
                    </a:p>
                  </a:txBody>
                  <a:tcPr marL="142875" marR="142875" marT="114300" marB="114300" anchor="ctr">
                    <a:lnL w="5239">
                      <a:solidFill>
                        <a:srgbClr val="D8DCCF"/>
                      </a:solidFill>
                      <a:prstDash val="solid"/>
                    </a:lnL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Purchasing Demo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Laporan harian pembelian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AFAF5"/>
                    </a:solidFill>
                  </a:tcPr>
                </a:tc>
              </a:tr>
              <a:tr h="53748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hr</a:t>
                      </a:r>
                    </a:p>
                  </a:txBody>
                  <a:tcPr marL="142875" marR="142875" marT="114300" marB="114300" anchor="ctr">
                    <a:lnL w="5239">
                      <a:solidFill>
                        <a:srgbClr val="D8DCCF"/>
                      </a:solidFill>
                      <a:prstDash val="solid"/>
                    </a:lnL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4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HR Demo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4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Laporan harian HRD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4F3ED"/>
                    </a:solidFill>
                  </a:tcPr>
                </a:tc>
              </a:tr>
              <a:tr h="53748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marketing</a:t>
                      </a:r>
                    </a:p>
                  </a:txBody>
                  <a:tcPr marL="142875" marR="142875" marT="114300" marB="114300" anchor="ctr">
                    <a:lnL w="5239">
                      <a:solidFill>
                        <a:srgbClr val="D8DCCF"/>
                      </a:solidFill>
                      <a:prstDash val="solid"/>
                    </a:lnL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Marketing Demo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Laporan harian pemasaran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AFAF5"/>
                    </a:solidFill>
                  </a:tcPr>
                </a:tc>
              </a:tr>
              <a:tr h="53748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it</a:t>
                      </a:r>
                    </a:p>
                  </a:txBody>
                  <a:tcPr marL="142875" marR="142875" marT="114300" marB="114300" anchor="ctr">
                    <a:lnL w="5239">
                      <a:solidFill>
                        <a:srgbClr val="D8DCCF"/>
                      </a:solidFill>
                      <a:prstDash val="solid"/>
                    </a:lnL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4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IT Demo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4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Laporan teknis tanpa akses medis otomatis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4F3ED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EEC9590F-6B0C-436B-A869-5744238C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820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500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500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500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500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500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500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500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500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500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Modul stok, pengadaan, HR dan desain CAD/CAM mendalam masih dalam pengembangan.</a:t>
            </a:r>
          </a:p>
        </p:txBody>
      </p:sp>
    </p:spTree>
    <p:extLst>
      <p:ext uri="{BB962C8B-B14F-4D97-AF65-F5344CB8AC3E}">
        <p14:creationId xmlns:p14="http://schemas.microsoft.com/office/powerpoint/2010/main" val="9375600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34B969B3-F431-4532-9225-EEDE4F44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defPPr>
            <a:lvl1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1pPr>
            <a:lvl2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2pPr>
            <a:lvl3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3pPr>
            <a:lvl4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4pPr>
            <a:lvl5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5pPr>
            <a:lvl6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6pPr>
            <a:lvl7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7pPr>
            <a:lvl8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8pPr>
            <a:lvl9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253630"/>
                </a:solidFill>
                <a:latin typeface="Georgia"/>
                <a:ea typeface="Georgia"/>
                <a:cs typeface="Georgia"/>
              </a:rPr>
              <a:t>Ringkasan pekerjaan setiap divisi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E4FC1F7-4D2C-4746-8A08-6F881F97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818B76"/>
                </a:solidFill>
                <a:latin typeface="Segoe UI"/>
                <a:ea typeface="Segoe UI"/>
                <a:cs typeface="Segoe UI"/>
              </a:rPr>
              <a:t>Naraya Aurentis Monolithic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CA1189B-3F1C-406E-889A-9CDAD6DB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C957F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60DC31B-760B-4792-B1F7-6A0859C7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3476625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Jumlah order mengikuti lingkup akses akun yang masuk.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9399766-DB83-486C-8996-661B5C5A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6063"/>
            <a:ext cx="3476625" cy="104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Antrean dan tindakan tertunda menjadi bagian utama layar kerja.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4F47453-17F0-4F3C-99E2-5CF6A0B4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5269"/>
            <a:ext cx="3476625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Jadwal tim pada demo merupakan simulasi ketersediaan.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58217D-8938-455B-85B0-CE9446C3CA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aba0890b6b4311"/>
          <a:stretch xmlns:a="http://schemas.openxmlformats.org/drawingml/2006/main"/>
        </p:blipFill>
        <p:spPr>
          <a:xfrm xmlns:a="http://schemas.openxmlformats.org/drawingml/2006/main">
            <a:off x="5407026" y="1571625"/>
            <a:ext cx="5311772" cy="4629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4630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BA04CA6A-3522-461D-AF64-E72EB55B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defPPr>
            <a:lvl1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1pPr>
            <a:lvl2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2pPr>
            <a:lvl3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3pPr>
            <a:lvl4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4pPr>
            <a:lvl5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5pPr>
            <a:lvl6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6pPr>
            <a:lvl7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7pPr>
            <a:lvl8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8pPr>
            <a:lvl9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253630"/>
                </a:solidFill>
                <a:latin typeface="Georgia"/>
                <a:ea typeface="Georgia"/>
                <a:cs typeface="Georgia"/>
              </a:rPr>
              <a:t>Registrasi pasien dan jadwal kunjungan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355C67D-0701-407A-8CCF-5915239C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818B76"/>
                </a:solidFill>
                <a:latin typeface="Segoe UI"/>
                <a:ea typeface="Segoe UI"/>
                <a:cs typeface="Segoe UI"/>
              </a:rPr>
              <a:t>Naraya Aurentis Monolithic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5635FC0-2727-4182-BA1A-6626434F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C957F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77AAEA9-2806-44FF-9F67-16098A58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3476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53630"/>
                </a:solidFill>
                <a:latin typeface="Segoe UI"/>
                <a:ea typeface="Segoe UI"/>
                <a:cs typeface="Segoe UI"/>
              </a:rPr>
              <a:t>Front Office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556D507-5937-40F6-B75C-EA592085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3476625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Mencatat pasien fiktif, kanal layanan dan jadwal dokter.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4ABD156-BB5B-46F0-B81E-75A74A74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6113"/>
            <a:ext cx="3476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53630"/>
                </a:solidFill>
                <a:latin typeface="Segoe UI"/>
                <a:ea typeface="Segoe UI"/>
                <a:cs typeface="Segoe UI"/>
              </a:rPr>
              <a:t>Pergantian dokter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F23AD98-B4EB-4E48-8B09-EF84DE82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6163"/>
            <a:ext cx="3476625" cy="104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Pasien perlu menerima penawaran sebelum dokter aktif berubah.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5C44EF5-D2D0-479F-A134-14AD277F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5369"/>
            <a:ext cx="3476625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Jam kunjungan ditampilkan dalam WIB.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4FBE11-2172-4A2F-825A-51BED769D8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f9adc0b19f42be"/>
          <a:stretch xmlns:a="http://schemas.openxmlformats.org/drawingml/2006/main"/>
        </p:blipFill>
        <p:spPr>
          <a:xfrm xmlns:a="http://schemas.openxmlformats.org/drawingml/2006/main">
            <a:off x="4729925" y="1571625"/>
            <a:ext cx="6665976" cy="4629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643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5C6152B3-8D5F-4887-A924-C599A417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defPPr>
            <a:lvl1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1pPr>
            <a:lvl2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2pPr>
            <a:lvl3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3pPr>
            <a:lvl4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4pPr>
            <a:lvl5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5pPr>
            <a:lvl6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6pPr>
            <a:lvl7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7pPr>
            <a:lvl8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8pPr>
            <a:lvl9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253630"/>
                </a:solidFill>
                <a:latin typeface="Georgia"/>
                <a:ea typeface="Georgia"/>
                <a:cs typeface="Georgia"/>
              </a:rPr>
              <a:t>Surat kerja dari Dokter Klinik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B63F908-A086-4605-9BB0-E17B3FC1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818B76"/>
                </a:solidFill>
                <a:latin typeface="Segoe UI"/>
                <a:ea typeface="Segoe UI"/>
                <a:cs typeface="Segoe UI"/>
              </a:rPr>
              <a:t>Naraya Aurentis Monolithic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D11899B-394D-46C4-A75A-035C9927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C957F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DE8299B-ADD9-46F4-A0F3-C4EF8F75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3476625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Dokter memilih pasien dan menuliskan spesifikasi pekerjaan.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08C8D81-8303-446F-B1BA-C1A6B978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6063"/>
            <a:ext cx="3476625" cy="104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Resepsionis mengelola administrasi tanpa menyunting instruksi klinis.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E74C996-7ACC-4E8B-AC7F-8392BD76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5269"/>
            <a:ext cx="3476625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Contoh yang diuji: Crown Demo Presentasi.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D3B316-AFF4-465B-97D8-B98D1FEB15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d0dc48c69148ec"/>
          <a:srcRect xmlns:a="http://schemas.openxmlformats.org/drawingml/2006/main" l="27000" t="16000" r="27000" b="16000"/>
          <a:stretch xmlns:a="http://schemas.openxmlformats.org/drawingml/2006/main"/>
        </p:blipFill>
        <p:spPr>
          <a:xfrm xmlns:a="http://schemas.openxmlformats.org/drawingml/2006/main">
            <a:off x="6228357" y="1571625"/>
            <a:ext cx="3669110" cy="4629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4851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B0E20433-CFE0-4D9E-9688-94E71132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defPPr>
            <a:lvl1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1pPr>
            <a:lvl2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2pPr>
            <a:lvl3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3pPr>
            <a:lvl4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4pPr>
            <a:lvl5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5pPr>
            <a:lvl6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6pPr>
            <a:lvl7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7pPr>
            <a:lvl8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8pPr>
            <a:lvl9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253630"/>
                </a:solidFill>
                <a:latin typeface="Georgia"/>
                <a:ea typeface="Georgia"/>
                <a:cs typeface="Georgia"/>
              </a:rPr>
              <a:t>Pencarian dan antrean order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2E6D024-8ABF-4BCC-84DA-4F626ADC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818B76"/>
                </a:solidFill>
                <a:latin typeface="Segoe UI"/>
                <a:ea typeface="Segoe UI"/>
                <a:cs typeface="Segoe UI"/>
              </a:rPr>
              <a:t>Naraya Aurentis Monolithic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D770924-E1FD-407C-90BE-B3150CE1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C957F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20356A8-4F5B-42C6-BEEF-3979DFBA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3476625" cy="104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Order dapat dicari melalui nomor, pekerjaan atau referensi pasien yang diizinkan.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DDE9DBB-E9B9-4912-AC89-271D8E68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7531"/>
            <a:ext cx="3476625" cy="104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Filter memisahkan antrean, produksi, QC dan hasil siap serah.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05EF190-FC30-40BB-9421-D1A67E05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6738"/>
            <a:ext cx="3476625" cy="104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Sumber internal dan mitra tetap memiliki penanda masing-masing.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F4B3C-FBC4-4BA8-92BF-CD3BF67F54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37a273344549e3"/>
          <a:stretch xmlns:a="http://schemas.openxmlformats.org/drawingml/2006/main"/>
        </p:blipFill>
        <p:spPr>
          <a:xfrm xmlns:a="http://schemas.openxmlformats.org/drawingml/2006/main">
            <a:off x="4729925" y="1571625"/>
            <a:ext cx="6665976" cy="4629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0431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0E365C1E-E963-4AC6-9028-9CA5E6D5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defPPr>
            <a:lvl1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1pPr>
            <a:lvl2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2pPr>
            <a:lvl3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3pPr>
            <a:lvl4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4pPr>
            <a:lvl5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5pPr>
            <a:lvl6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6pPr>
            <a:lvl7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7pPr>
            <a:lvl8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8pPr>
            <a:lvl9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253630"/>
                </a:solidFill>
                <a:latin typeface="Georgia"/>
                <a:ea typeface="Georgia"/>
                <a:cs typeface="Georgia"/>
              </a:rPr>
              <a:t>Detail order dan tindakan yang tersedia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0556439-EEEF-4C93-90F3-2432DF80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818B76"/>
                </a:solidFill>
                <a:latin typeface="Segoe UI"/>
                <a:ea typeface="Segoe UI"/>
                <a:cs typeface="Segoe UI"/>
              </a:rPr>
              <a:t>Naraya Aurentis Monolithic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568F35E-40E4-48C3-BCBA-B340238D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C957F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A87B854-568C-481E-BD55-D9D1EF42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3476625" cy="104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Panel detail memisahkan tanggal komitmen dari estimasi pekerjaan.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E3A23F5-6C93-4DDE-90F2-312F051C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7531"/>
            <a:ext cx="3476625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Riwayat menunjukkan kejadian layanan yang tercatat.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8594D24-683D-4ACE-A8A6-0895F9E5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5269"/>
            <a:ext cx="3476625" cy="104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Tombol tindakan mengikuti peran, hubungan order dan tahap pekerjaan.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9BA419-552D-42DF-B7E5-EDB21A5710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82ca4a8c0d4084"/>
          <a:srcRect xmlns:a="http://schemas.openxmlformats.org/drawingml/2006/main" l="57000" t="0" r="0" b="0"/>
          <a:stretch xmlns:a="http://schemas.openxmlformats.org/drawingml/2006/main"/>
        </p:blipFill>
        <p:spPr>
          <a:xfrm xmlns:a="http://schemas.openxmlformats.org/drawingml/2006/main">
            <a:off x="6629728" y="1571625"/>
            <a:ext cx="2866370" cy="4629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401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3C45FF6B-BCA5-4641-9789-7D267F17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defPPr>
            <a:lvl1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1pPr>
            <a:lvl2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2pPr>
            <a:lvl3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3pPr>
            <a:lvl4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4pPr>
            <a:lvl5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5pPr>
            <a:lvl6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6pPr>
            <a:lvl7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7pPr>
            <a:lvl8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8pPr>
            <a:lvl9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253630"/>
                </a:solidFill>
                <a:latin typeface="Georgia"/>
                <a:ea typeface="Georgia"/>
                <a:cs typeface="Georgia"/>
              </a:rPr>
              <a:t>Penerimaan Lab dan rencana produksi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7753D66-000C-43E0-9C87-116435CE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818B76"/>
                </a:solidFill>
                <a:latin typeface="Segoe UI"/>
                <a:ea typeface="Segoe UI"/>
                <a:cs typeface="Segoe UI"/>
              </a:rPr>
              <a:t>Naraya Aurentis Monolithic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E7F2976-6101-4992-813E-2A958DB6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C957F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9A28558-1634-4D92-8A0B-BB6F9969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347662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Front Office memilih PJ Lab. Supervisor yang ditugaskan menerima order melalui akunnya sendiri.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5B3FCA3-46D5-4A05-BAB4-221D59D7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476625" cy="104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Supervisor kemudian memilih teknisi dan memvalidasi estimasi.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56B9582-44C0-4980-BEDB-735BACA0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8206"/>
            <a:ext cx="3476625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Rekomendasi ETA masih heuristik demo.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6487E-F8D6-45B9-A7E6-A275FDE63C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fdd93a7e124b61"/>
          <a:srcRect xmlns:a="http://schemas.openxmlformats.org/drawingml/2006/main" l="27000" t="16000" r="27000" b="16000"/>
          <a:stretch xmlns:a="http://schemas.openxmlformats.org/drawingml/2006/main"/>
        </p:blipFill>
        <p:spPr>
          <a:xfrm xmlns:a="http://schemas.openxmlformats.org/drawingml/2006/main">
            <a:off x="6269222" y="1571625"/>
            <a:ext cx="3587380" cy="4629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4191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B344E648-34D9-4C0E-852F-4DA43223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defPPr>
            <a:lvl1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1pPr>
            <a:lvl2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2pPr>
            <a:lvl3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3pPr>
            <a:lvl4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4pPr>
            <a:lvl5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5pPr>
            <a:lvl6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6pPr>
            <a:lvl7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7pPr>
            <a:lvl8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8pPr>
            <a:lvl9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253630"/>
                </a:solidFill>
                <a:latin typeface="Georgia"/>
                <a:ea typeface="Georgia"/>
                <a:cs typeface="Georgia"/>
              </a:rPr>
              <a:t>Produksi dan pemeriksaan QC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B9722C8-40E6-4C0C-AA84-71783CF6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818B76"/>
                </a:solidFill>
                <a:latin typeface="Segoe UI"/>
                <a:ea typeface="Segoe UI"/>
                <a:cs typeface="Segoe UI"/>
              </a:rPr>
              <a:t>Naraya Aurentis Monolithic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B66D90C-360D-4376-A1E5-3119708E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C957F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2865B54-99F3-45C2-8F73-09D243E6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3476625" cy="104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Teknisi hanya memperbarui pekerjaan yang ditugaskan kepadanya.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AD7031D-D57D-4066-A269-69DFAC6F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7531"/>
            <a:ext cx="3476625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Akun QC mencatat hasil pemeriksaan teknis secara terpisah.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4E982F2-5B24-4F84-88EE-DE500DE6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5269"/>
            <a:ext cx="3476625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Hasil yang perlu perbaikan kembali ke alur rework.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47797-7660-44BD-A89A-88C9358281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2359dc446b4e05"/>
          <a:srcRect xmlns:a="http://schemas.openxmlformats.org/drawingml/2006/main" l="27000" t="16000" r="27000" b="16000"/>
          <a:stretch xmlns:a="http://schemas.openxmlformats.org/drawingml/2006/main"/>
        </p:blipFill>
        <p:spPr>
          <a:xfrm xmlns:a="http://schemas.openxmlformats.org/drawingml/2006/main">
            <a:off x="6257734" y="1571625"/>
            <a:ext cx="3610358" cy="4629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971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F6E1945D-B7FC-4635-BD66-21A69B2A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defPPr>
            <a:lvl1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1pPr>
            <a:lvl2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2pPr>
            <a:lvl3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3pPr>
            <a:lvl4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4pPr>
            <a:lvl5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5pPr>
            <a:lvl6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6pPr>
            <a:lvl7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7pPr>
            <a:lvl8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8pPr>
            <a:lvl9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253630"/>
                </a:solidFill>
                <a:latin typeface="Georgia"/>
                <a:ea typeface="Georgia"/>
                <a:cs typeface="Georgia"/>
              </a:rPr>
              <a:t>Hasil yang siap diserahkan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1407515-9278-439F-8C60-A1429FDF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818B76"/>
                </a:solidFill>
                <a:latin typeface="Segoe UI"/>
                <a:ea typeface="Segoe UI"/>
                <a:cs typeface="Segoe UI"/>
              </a:rPr>
              <a:t>Naraya Aurentis Monolithic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C7A1C46-ADEB-41D7-87C7-DB492578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C957F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5375010-2446-4271-90AA-90AACBA7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3476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53630"/>
                </a:solidFill>
                <a:latin typeface="Segoe UI"/>
                <a:ea typeface="Segoe UI"/>
                <a:cs typeface="Segoe UI"/>
              </a:rPr>
              <a:t>Hasil pengujian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E7A57EE-CFA8-4635-A2D1-49156CFC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3476625" cy="104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Order LAB-8B790A1426 berhasil mencapai status Siap diserahkan.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B17D296-27A9-4B59-92FB-09FFAF91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7581"/>
            <a:ext cx="3476625" cy="104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Riwayat mencatat penugasan, penerimaan, rencana, progres dan hasil QC.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8A5694D-6D45-4210-BB73-D5A2432D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6788"/>
            <a:ext cx="347662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Status ini menyatakan QC teknis selesai. Penyerahan fisik dan tindakan klinis belum ditutup otomatis.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65698-6C31-410A-A9E5-5775CEA0B8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55d8da48e64282"/>
          <a:srcRect xmlns:a="http://schemas.openxmlformats.org/drawingml/2006/main" l="57000" t="0" r="0" b="0"/>
          <a:stretch xmlns:a="http://schemas.openxmlformats.org/drawingml/2006/main"/>
        </p:blipFill>
        <p:spPr>
          <a:xfrm xmlns:a="http://schemas.openxmlformats.org/drawingml/2006/main">
            <a:off x="6915447" y="1571625"/>
            <a:ext cx="2294932" cy="4629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0565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C5AD604F-22DD-4544-833A-7F01FD55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defPPr>
            <a:lvl1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1pPr>
            <a:lvl2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2pPr>
            <a:lvl3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3pPr>
            <a:lvl4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4pPr>
            <a:lvl5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5pPr>
            <a:lvl6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6pPr>
            <a:lvl7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7pPr>
            <a:lvl8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8pPr>
            <a:lvl9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253630"/>
                </a:solidFill>
                <a:latin typeface="Georgia"/>
                <a:ea typeface="Georgia"/>
                <a:cs typeface="Georgia"/>
              </a:rPr>
              <a:t>Perubahan estimasi dan komitmen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FBC3FD8-9780-40E9-9DDD-553A1CAE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818B76"/>
                </a:solidFill>
                <a:latin typeface="Segoe UI"/>
                <a:ea typeface="Segoe UI"/>
                <a:cs typeface="Segoe UI"/>
              </a:rPr>
              <a:t>Naraya Aurentis Monolithic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BF57545-2844-4CC5-9683-5DA33F77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C957F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C04F5C-887B-44E0-9B2C-C827BBB27D19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8153400"/>
              </a:tblGrid>
              <a:tr h="6667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7F3E7"/>
                          </a:solidFill>
                          <a:latin typeface="Segoe UI"/>
                          <a:ea typeface="Segoe UI"/>
                          <a:cs typeface="Segoe UI"/>
                        </a:rPr>
                        <a:t>TAHAP</a:t>
                      </a:r>
                    </a:p>
                  </a:txBody>
                  <a:tcPr marL="142875" marR="142875" marT="114300" marB="114300" anchor="ctr">
                    <a:lnL w="5239">
                      <a:solidFill>
                        <a:srgbClr val="D8DCCF"/>
                      </a:solidFill>
                      <a:prstDash val="solid"/>
                    </a:lnL>
                    <a:lnR w="5239">
                      <a:solidFill>
                        <a:srgbClr val="D8DCCF"/>
                      </a:solidFill>
                      <a:prstDash val="solid"/>
                    </a:lnR>
                    <a:lnT w="5239">
                      <a:solidFill>
                        <a:srgbClr val="D8DCCF"/>
                      </a:solidFill>
                      <a:prstDash val="solid"/>
                    </a:lnT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2536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7F3E7"/>
                          </a:solidFill>
                          <a:latin typeface="Segoe UI"/>
                          <a:ea typeface="Segoe UI"/>
                          <a:cs typeface="Segoe UI"/>
                        </a:rPr>
                        <a:t>PERILAKU SISTEM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T w="5239">
                      <a:solidFill>
                        <a:srgbClr val="D8DCCF"/>
                      </a:solidFill>
                      <a:prstDash val="solid"/>
                    </a:lnT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25363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Usulan Lab</a:t>
                      </a:r>
                    </a:p>
                  </a:txBody>
                  <a:tcPr marL="142875" marR="142875" marT="114300" marB="114300" anchor="ctr">
                    <a:lnL w="5239">
                      <a:solidFill>
                        <a:srgbClr val="D8DCCF"/>
                      </a:solidFill>
                      <a:prstDash val="solid"/>
                    </a:lnL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Supervisor memasukkan tanggal baru beserta alasan.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AFAF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Menunggu respons</a:t>
                      </a:r>
                    </a:p>
                  </a:txBody>
                  <a:tcPr marL="142875" marR="142875" marT="114300" marB="114300" anchor="ctr">
                    <a:lnL w="5239">
                      <a:solidFill>
                        <a:srgbClr val="D8DCCF"/>
                      </a:solidFill>
                      <a:prstDash val="solid"/>
                    </a:lnL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4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Tanggal komitmen lama tetap berlaku.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4F3ED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Persetujuan</a:t>
                      </a:r>
                    </a:p>
                  </a:txBody>
                  <a:tcPr marL="142875" marR="142875" marT="114300" marB="114300" anchor="ctr">
                    <a:lnL w="5239">
                      <a:solidFill>
                        <a:srgbClr val="D8DCCF"/>
                      </a:solidFill>
                      <a:prstDash val="solid"/>
                    </a:lnL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Pasien internal atau klinik mitra meninjau usulan yang tepat.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AFAF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Keputusan</a:t>
                      </a:r>
                    </a:p>
                  </a:txBody>
                  <a:tcPr marL="142875" marR="142875" marT="114300" marB="114300" anchor="ctr">
                    <a:lnL w="5239">
                      <a:solidFill>
                        <a:srgbClr val="D8DCCF"/>
                      </a:solidFill>
                      <a:prstDash val="solid"/>
                    </a:lnL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4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Sistem mencatat persetujuan atau penolakan tanpa menghapus riwayat.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4F3ED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0E82653-2F82-4ED8-914A-4C7E72BF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365544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365544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365544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365544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365544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365544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365544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365544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365544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36554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65544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365544"/>
                </a:solidFill>
                <a:latin typeface="Segoe UI"/>
                <a:ea typeface="Segoe UI"/>
                <a:cs typeface="Segoe UI"/>
              </a:rPr>
              <a:t>Usulan yang masih menunggu tidak dapat ditimpa. Respons dari tampilan yang sudah kedaluwarsa akan ditolak.</a:t>
            </a:r>
          </a:p>
        </p:txBody>
      </p:sp>
    </p:spTree>
    <p:extLst>
      <p:ext uri="{BB962C8B-B14F-4D97-AF65-F5344CB8AC3E}">
        <p14:creationId xmlns:p14="http://schemas.microsoft.com/office/powerpoint/2010/main" val="177729275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ABB23341-43F8-48DA-8A4F-4EF4A74B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defPPr>
            <a:lvl1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1pPr>
            <a:lvl2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2pPr>
            <a:lvl3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3pPr>
            <a:lvl4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4pPr>
            <a:lvl5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5pPr>
            <a:lvl6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6pPr>
            <a:lvl7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7pPr>
            <a:lvl8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8pPr>
            <a:lvl9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253630"/>
                </a:solidFill>
                <a:latin typeface="Georgia"/>
                <a:ea typeface="Georgia"/>
                <a:cs typeface="Georgia"/>
              </a:rPr>
              <a:t>Pencatatan penerimaan dana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6092746-4CA5-4346-B341-456AAF07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818B76"/>
                </a:solidFill>
                <a:latin typeface="Segoe UI"/>
                <a:ea typeface="Segoe UI"/>
                <a:cs typeface="Segoe UI"/>
              </a:rPr>
              <a:t>Naraya Aurentis Monolithic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9A3141C-9B3D-4C95-ABBB-C6CE3CE6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C957F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5C51326-A7C8-4066-BB94-36843E2A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3476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53630"/>
                </a:solidFill>
                <a:latin typeface="Segoe UI"/>
                <a:ea typeface="Segoe UI"/>
                <a:cs typeface="Segoe UI"/>
              </a:rPr>
              <a:t>Contoh transaksi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CF48D31-2E1C-4692-A8F8-3E420D1C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3476625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Front Office mencatat QRIS simulasi Rp500.000.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D6A32EC-B1AB-4DEC-908A-6138B28C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6113"/>
            <a:ext cx="3476625" cy="104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Sistem menempatkannya pada Menunggu FAT. Jumlah terverifikasi tetap Rp0.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80060D6-D644-4932-8501-A4035BF3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5319"/>
            <a:ext cx="3476625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Referensi pembayaran membantu mencegah pencatatan berulang.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A8D69D-9258-4EA4-8734-3A0CB32C51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11886cb24845ec"/>
          <a:stretch xmlns:a="http://schemas.openxmlformats.org/drawingml/2006/main"/>
        </p:blipFill>
        <p:spPr>
          <a:xfrm xmlns:a="http://schemas.openxmlformats.org/drawingml/2006/main">
            <a:off x="4729925" y="1571625"/>
            <a:ext cx="6665976" cy="4629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908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08FAA5FD-1619-4270-8F9B-A06C7FEA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defPPr>
            <a:lvl1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1pPr>
            <a:lvl2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2pPr>
            <a:lvl3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3pPr>
            <a:lvl4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4pPr>
            <a:lvl5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5pPr>
            <a:lvl6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6pPr>
            <a:lvl7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7pPr>
            <a:lvl8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8pPr>
            <a:lvl9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253630"/>
                </a:solidFill>
                <a:latin typeface="Georgia"/>
                <a:ea typeface="Georgia"/>
                <a:cs typeface="Georgia"/>
              </a:rPr>
              <a:t>Verifikasi FAT dan sisa tagihan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7BBCB28-0C0E-4B44-8147-754E2BC0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818B76"/>
                </a:solidFill>
                <a:latin typeface="Segoe UI"/>
                <a:ea typeface="Segoe UI"/>
                <a:cs typeface="Segoe UI"/>
              </a:rPr>
              <a:t>Naraya Aurentis Monolithic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3386A5A-F1AE-4718-AABD-185D11FF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C957F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4EAFF5A-0D3D-4705-BDE2-A70CC580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3476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53630"/>
                </a:solidFill>
                <a:latin typeface="Segoe UI"/>
                <a:ea typeface="Segoe UI"/>
                <a:cs typeface="Segoe UI"/>
              </a:rPr>
              <a:t>Akun terpisah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39A6C72-BBAE-4E6B-A0FB-3AFCE335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3476625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FAT memeriksa penerimaan yang dicatat Front Office.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1DF50F3-FA02-4733-9EAE-3B298D3A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6113"/>
            <a:ext cx="3476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53630"/>
                </a:solidFill>
                <a:latin typeface="Segoe UI"/>
                <a:ea typeface="Segoe UI"/>
                <a:cs typeface="Segoe UI"/>
              </a:rPr>
              <a:t>Hasil contoh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CA13813-7F20-45D5-BFA9-482DE30C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6163"/>
            <a:ext cx="3476625" cy="104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Rp500.000 terverifikasi. Sisa tagihan menjadi Rp0 dan status Lunas.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7437D48-BDD6-486B-B2C6-4E2AC6D4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5369"/>
            <a:ext cx="3476625" cy="104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Verifikasi ini masih simulasi manual, tanpa settlement bank.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B9F68A-12C7-4211-919F-F570363613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2b0ab3ef9a41ec"/>
          <a:stretch xmlns:a="http://schemas.openxmlformats.org/drawingml/2006/main"/>
        </p:blipFill>
        <p:spPr>
          <a:xfrm xmlns:a="http://schemas.openxmlformats.org/drawingml/2006/main">
            <a:off x="4729925" y="1571625"/>
            <a:ext cx="6665976" cy="4629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68401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A337837F-85AD-4D4D-82CE-6E254225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defPPr>
            <a:lvl1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1pPr>
            <a:lvl2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2pPr>
            <a:lvl3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3pPr>
            <a:lvl4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4pPr>
            <a:lvl5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5pPr>
            <a:lvl6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6pPr>
            <a:lvl7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7pPr>
            <a:lvl8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8pPr>
            <a:lvl9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253630"/>
                </a:solidFill>
                <a:latin typeface="Georgia"/>
                <a:ea typeface="Georgia"/>
                <a:cs typeface="Georgia"/>
              </a:rPr>
              <a:t>Order dari klinik mitra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0B0D12A-4A29-4E87-8F3E-572ACC7D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818B76"/>
                </a:solidFill>
                <a:latin typeface="Segoe UI"/>
                <a:ea typeface="Segoe UI"/>
                <a:cs typeface="Segoe UI"/>
              </a:rPr>
              <a:t>Naraya Aurentis Monolithic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BAE3DB6-DE22-454B-B71D-E8772DF7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C957F"/>
                </a:solidFill>
                <a:latin typeface="Segoe UI"/>
                <a:ea typeface="Segoe UI"/>
                <a:cs typeface="Segoe UI"/>
              </a:rPr>
              <a:t>18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CC12327-25D7-4805-ACAD-7F39BD7B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3476625" cy="104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Mitra mendaftarkan kode kasus anonim dan mengirim surat kerja eksternal.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6ECACE0-B420-4CBD-A27B-5ABD2D2C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7531"/>
            <a:ext cx="3476625" cy="104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Portal hanya menampilkan order dan tagihan organisasinya sendiri.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F40AF81-9A5B-4695-8AD5-107BA624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6738"/>
            <a:ext cx="3476625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Klinik mitra menjadi penerima utama pembaruan layanan.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6F675-D2CD-4566-B858-740F448473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263d9bc3fb4b25"/>
          <a:stretch xmlns:a="http://schemas.openxmlformats.org/drawingml/2006/main"/>
        </p:blipFill>
        <p:spPr>
          <a:xfrm xmlns:a="http://schemas.openxmlformats.org/drawingml/2006/main">
            <a:off x="4729925" y="1571625"/>
            <a:ext cx="6665976" cy="4629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22022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BAE01912-A4E8-4372-9F75-1B080CEA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defPPr>
            <a:lvl1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1pPr>
            <a:lvl2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2pPr>
            <a:lvl3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3pPr>
            <a:lvl4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4pPr>
            <a:lvl5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5pPr>
            <a:lvl6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6pPr>
            <a:lvl7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7pPr>
            <a:lvl8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8pPr>
            <a:lvl9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253630"/>
                </a:solidFill>
                <a:latin typeface="Georgia"/>
                <a:ea typeface="Georgia"/>
                <a:cs typeface="Georgia"/>
              </a:rPr>
              <a:t>Portal pasien dan pemberitahuan layanan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60958FD-232D-4813-B39E-25F00645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818B76"/>
                </a:solidFill>
                <a:latin typeface="Segoe UI"/>
                <a:ea typeface="Segoe UI"/>
                <a:cs typeface="Segoe UI"/>
              </a:rPr>
              <a:t>Naraya Aurentis Monolithic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C6B83A3-739B-49F1-9F41-9F5AEF33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C957F"/>
                </a:solidFill>
                <a:latin typeface="Segoe UI"/>
                <a:ea typeface="Segoe UI"/>
                <a:cs typeface="Segoe UI"/>
              </a:rPr>
              <a:t>19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3A472F2-0DF4-4680-871A-3EB844F4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3476625" cy="104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Pasien melihat order miliknya dan meninjau perubahan yang membutuhkan respons.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D985544-E000-4726-909A-19E8050F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7531"/>
            <a:ext cx="3476625" cy="104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Notifikasi tersimpan pada antrean demo setelah peristiwa layanan yang sah.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7BDEF1E-E0FC-4E74-A3AF-09F76120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6738"/>
            <a:ext cx="3476625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WhatsApp, SMS dan email belum mengirim pesan sungguhan.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9AE95C-759B-4992-993C-DFAC7E5A6E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6b32676cc14fc4"/>
          <a:stretch xmlns:a="http://schemas.openxmlformats.org/drawingml/2006/main"/>
        </p:blipFill>
        <p:spPr>
          <a:xfrm xmlns:a="http://schemas.openxmlformats.org/drawingml/2006/main">
            <a:off x="4729925" y="1571625"/>
            <a:ext cx="6665976" cy="4629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52510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653A2705-E8CA-4064-B59F-CD1C178E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defPPr>
            <a:lvl1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1pPr>
            <a:lvl2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2pPr>
            <a:lvl3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3pPr>
            <a:lvl4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4pPr>
            <a:lvl5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5pPr>
            <a:lvl6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6pPr>
            <a:lvl7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7pPr>
            <a:lvl8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8pPr>
            <a:lvl9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253630"/>
                </a:solidFill>
                <a:latin typeface="Georgia"/>
                <a:ea typeface="Georgia"/>
                <a:cs typeface="Georgia"/>
              </a:rPr>
              <a:t>Bantuan awal melalui asisten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E5EE605-5927-4C4F-B247-EC475644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818B76"/>
                </a:solidFill>
                <a:latin typeface="Segoe UI"/>
                <a:ea typeface="Segoe UI"/>
                <a:cs typeface="Segoe UI"/>
              </a:rPr>
              <a:t>Naraya Aurentis Monolithic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FE6649F-3147-49EE-8249-B9A5DEA3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C957F"/>
                </a:solidFill>
                <a:latin typeface="Segoe UI"/>
                <a:ea typeface="Segoe UI"/>
                <a:cs typeface="Segoe UI"/>
              </a:rPr>
              <a:t>20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57AB422-3FFE-416C-8F00-00495291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53630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53630"/>
                </a:solidFill>
                <a:latin typeface="Segoe UI"/>
                <a:ea typeface="Segoe UI"/>
                <a:cs typeface="Segoe UI"/>
              </a:rPr>
              <a:t>Konteks percakapan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D39A4AB-D9D8-4252-950B-336C0715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6191250" cy="770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Pengguna dapat memilih pertanyaan umum atau order miliknya.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6714C4C-8F0E-4BDE-8D09-E8892449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1373"/>
            <a:ext cx="6191250" cy="770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Asisten menjelaskan proses layanan dan membaca status minimal yang diizinkan.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54F3255-9A77-4ADD-B6A7-D51FB09D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7695"/>
            <a:ext cx="6191250" cy="770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Mode saat ini adalah simulasi lokal. Belum ada model AI eksternal yang terhubung.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67A90-5E99-408A-BD35-B246A9C2D9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0a115b8a154556"/>
          <a:srcRect xmlns:a="http://schemas.openxmlformats.org/drawingml/2006/main" l="71500" t="23500" r="800" b="24000"/>
          <a:stretch xmlns:a="http://schemas.openxmlformats.org/drawingml/2006/main"/>
        </p:blipFill>
        <p:spPr>
          <a:xfrm xmlns:a="http://schemas.openxmlformats.org/drawingml/2006/main">
            <a:off x="8202598" y="1524000"/>
            <a:ext cx="2930554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87393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2E94C6A2-1E41-46FD-A828-53412B57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defPPr>
            <a:lvl1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1pPr>
            <a:lvl2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2pPr>
            <a:lvl3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3pPr>
            <a:lvl4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4pPr>
            <a:lvl5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5pPr>
            <a:lvl6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6pPr>
            <a:lvl7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7pPr>
            <a:lvl8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8pPr>
            <a:lvl9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253630"/>
                </a:solidFill>
                <a:latin typeface="Georgia"/>
                <a:ea typeface="Georgia"/>
                <a:cs typeface="Georgia"/>
              </a:rPr>
              <a:t>Pengalihan ke antrean Customer Service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9C1069D-833E-4E7D-97A2-B21A3678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818B76"/>
                </a:solidFill>
                <a:latin typeface="Segoe UI"/>
                <a:ea typeface="Segoe UI"/>
                <a:cs typeface="Segoe UI"/>
              </a:rPr>
              <a:t>Naraya Aurentis Monolithic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402A7D4-5BDE-4A22-ACAD-AF983CA2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C957F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794A326-58FF-461D-AFD0-401D6670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3476625" cy="104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Tombol Hubungi petugas mengubah percakapan menjadi Menunggu petugas.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0394A28-CA4C-4139-A8E1-B381D477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7531"/>
            <a:ext cx="3476625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Asisten berhenti membalas setelah pengalihan.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6EAD508-5BF6-48AC-B2C1-8FF45103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5269"/>
            <a:ext cx="3476625" cy="104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Petugas melihat metadata antrean. Isi pesan baru terbuka setelah percakapan diambil.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EA98F-53C2-4219-AEFD-F2CF2FBB3E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fbe3994d1a4cb3"/>
          <a:stretch xmlns:a="http://schemas.openxmlformats.org/drawingml/2006/main"/>
        </p:blipFill>
        <p:spPr>
          <a:xfrm xmlns:a="http://schemas.openxmlformats.org/drawingml/2006/main">
            <a:off x="4729925" y="1571625"/>
            <a:ext cx="6665976" cy="4629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5403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236B5CC2-C997-49BD-9AFF-77AA0D9D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defPPr>
            <a:lvl1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1pPr>
            <a:lvl2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2pPr>
            <a:lvl3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3pPr>
            <a:lvl4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4pPr>
            <a:lvl5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5pPr>
            <a:lvl6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6pPr>
            <a:lvl7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7pPr>
            <a:lvl8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8pPr>
            <a:lvl9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253630"/>
                </a:solidFill>
                <a:latin typeface="Georgia"/>
                <a:ea typeface="Georgia"/>
                <a:cs typeface="Georgia"/>
              </a:rPr>
              <a:t>Percakapan langsung dengan petugas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ED7906A-9D2F-4F0D-9254-FE5FC991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818B76"/>
                </a:solidFill>
                <a:latin typeface="Segoe UI"/>
                <a:ea typeface="Segoe UI"/>
                <a:cs typeface="Segoe UI"/>
              </a:rPr>
              <a:t>Naraya Aurentis Monolithic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F9F0F43-5221-4776-A90E-3D3580CB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C957F"/>
                </a:solidFill>
                <a:latin typeface="Segoe UI"/>
                <a:ea typeface="Segoe UI"/>
                <a:cs typeface="Segoe UI"/>
              </a:rPr>
              <a:t>22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B24A928-499A-40BA-AD4F-33403B15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3476625" cy="104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Satu petugas mengambil percakapan dan melanjutkan dari riwayat asisten.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7482D5A-07EC-4FED-A726-51582DCF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7531"/>
            <a:ext cx="3476625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Pesan berikutnya memiliki penanda petugas manusia.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7E12B24-6247-4059-A2E8-932A403D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5269"/>
            <a:ext cx="3476625" cy="104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Pasien menerima balasan. Percakapan dapat ditutup dan riwayat tetap tersimpan.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9F07E-A7EB-4656-894C-9CF2F13CBD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fc6f064854a3b"/>
          <a:srcRect xmlns:a="http://schemas.openxmlformats.org/drawingml/2006/main" l="41000" t="17000" r="2000" b="14000"/>
          <a:stretch xmlns:a="http://schemas.openxmlformats.org/drawingml/2006/main"/>
        </p:blipFill>
        <p:spPr>
          <a:xfrm xmlns:a="http://schemas.openxmlformats.org/drawingml/2006/main">
            <a:off x="5342887" y="1571625"/>
            <a:ext cx="5440050" cy="4629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68367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35DE8C34-6605-4A65-BE84-E7154C34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defPPr>
            <a:lvl1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1pPr>
            <a:lvl2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2pPr>
            <a:lvl3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3pPr>
            <a:lvl4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4pPr>
            <a:lvl5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5pPr>
            <a:lvl6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6pPr>
            <a:lvl7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7pPr>
            <a:lvl8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8pPr>
            <a:lvl9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253630"/>
                </a:solidFill>
                <a:latin typeface="Georgia"/>
                <a:ea typeface="Georgia"/>
                <a:cs typeface="Georgia"/>
              </a:rPr>
              <a:t>Laporan harian setiap divisi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50992E7-C435-474C-B0C3-632D982A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818B76"/>
                </a:solidFill>
                <a:latin typeface="Segoe UI"/>
                <a:ea typeface="Segoe UI"/>
                <a:cs typeface="Segoe UI"/>
              </a:rPr>
              <a:t>Naraya Aurentis Monolithic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A60C26F-20D0-482C-A662-6FF194F1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C957F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4843EDB-1648-47A5-BE87-998BE18C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3476625" cy="104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Pengguna mencatat hasil pekerjaan dan kendala melalui akun divisinya.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85A3EEF-0E76-440E-9DC9-71BB740D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7531"/>
            <a:ext cx="3476625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Manajemen melihat laporan lintas divisi sesuai kewenangan.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B2BF40A-45F6-454A-BBF1-0264C583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5269"/>
            <a:ext cx="3476625" cy="104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Contoh laporan merangkum order yang lulus QC dan penerimaan yang telah diperiksa FAT.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B926E8-C90D-45D1-B9E7-3BBAE56C60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11dc44e2474499"/>
          <a:stretch xmlns:a="http://schemas.openxmlformats.org/drawingml/2006/main"/>
        </p:blipFill>
        <p:spPr>
          <a:xfrm xmlns:a="http://schemas.openxmlformats.org/drawingml/2006/main">
            <a:off x="4729925" y="1571625"/>
            <a:ext cx="6665976" cy="4629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97254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2D889C29-F497-40A4-BC8E-2A696FE0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defPPr>
            <a:lvl1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1pPr>
            <a:lvl2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2pPr>
            <a:lvl3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3pPr>
            <a:lvl4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4pPr>
            <a:lvl5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5pPr>
            <a:lvl6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6pPr>
            <a:lvl7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7pPr>
            <a:lvl8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8pPr>
            <a:lvl9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253630"/>
                </a:solidFill>
                <a:latin typeface="Georgia"/>
                <a:ea typeface="Georgia"/>
                <a:cs typeface="Georgia"/>
              </a:rPr>
              <a:t>Jejak aktivitas dan pengawasan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B34C88D-3C33-4D78-A6E1-5B86A5FD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818B76"/>
                </a:solidFill>
                <a:latin typeface="Segoe UI"/>
                <a:ea typeface="Segoe UI"/>
                <a:cs typeface="Segoe UI"/>
              </a:rPr>
              <a:t>Naraya Aurentis Monolithic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D99036B-9166-465D-A9FB-102CB3F1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C957F"/>
                </a:solidFill>
                <a:latin typeface="Segoe UI"/>
                <a:ea typeface="Segoe UI"/>
                <a:cs typeface="Segoe UI"/>
              </a:rPr>
              <a:t>24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1CE6FE1-3018-445E-A703-41808BB1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3476625" cy="104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Setiap tindakan sensitif mencatat pelaku, waktu dan objek yang terkait.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E9A9C02-4D8D-44B9-A5DB-A77B32DA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7531"/>
            <a:ext cx="3476625" cy="104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Riwayat pembayaran, penerimaan Lab, QC dan chat tidak dihapus melalui antarmuka.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E1C7AE4-3D54-42E2-82D2-4B736897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6738"/>
            <a:ext cx="3476625" cy="104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Audit tahan manipulasi masih menjadi kebutuhan sebelum produksi.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3EB33-CF04-4B05-97F5-067F59DC87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9f000f43b3413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731327" y="1571625"/>
            <a:ext cx="6663170" cy="4629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05018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A876F73C-F14F-4D75-851C-1DACE997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defPPr>
            <a:lvl1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1pPr>
            <a:lvl2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2pPr>
            <a:lvl3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3pPr>
            <a:lvl4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4pPr>
            <a:lvl5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5pPr>
            <a:lvl6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6pPr>
            <a:lvl7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7pPr>
            <a:lvl8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8pPr>
            <a:lvl9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253630"/>
                </a:solidFill>
                <a:latin typeface="Georgia"/>
                <a:ea typeface="Georgia"/>
                <a:cs typeface="Georgia"/>
              </a:rPr>
              <a:t>Penggunaan pada layar HP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1045A88-C6A1-4606-BFC1-8BBC088E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818B76"/>
                </a:solidFill>
                <a:latin typeface="Segoe UI"/>
                <a:ea typeface="Segoe UI"/>
                <a:cs typeface="Segoe UI"/>
              </a:rPr>
              <a:t>Naraya Aurentis Monolithic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A2C1850-CEB0-4910-ABE4-0AF3C322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C957F"/>
                </a:solidFill>
                <a:latin typeface="Segoe UI"/>
                <a:ea typeface="Segoe UI"/>
                <a:cs typeface="Segoe UI"/>
              </a:rPr>
              <a:t>25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547EB61-FC09-4174-A68E-56D5E3C4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6572250" cy="770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Navigasi berpindah ke menu samping yang dapat dibuka dengan satu tombol.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3DDD0E1-B513-4B6D-8464-81C5EBB5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3223"/>
            <a:ext cx="6572250" cy="770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Form dan ringkasan mengikuti lebar layar. Tabel panjang dapat digeser di dalam bagiannya sendiri.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222A171-8B9E-4AFD-8D4F-6A130F61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9545"/>
            <a:ext cx="6572250" cy="770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Pemeriksaan lebar halaman dilakukan pada viewport HP 390 piksel.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B40B64-D314-43E9-A2FF-A8F08FF13C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84f9b9bdc147a7"/>
          <a:stretch xmlns:a="http://schemas.openxmlformats.org/drawingml/2006/main"/>
        </p:blipFill>
        <p:spPr>
          <a:xfrm xmlns:a="http://schemas.openxmlformats.org/drawingml/2006/main">
            <a:off x="8572839" y="1543050"/>
            <a:ext cx="2190072" cy="47339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29593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4311F63C-3140-4CCF-BE1F-A36035BA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defPPr>
            <a:lvl1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1pPr>
            <a:lvl2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2pPr>
            <a:lvl3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3pPr>
            <a:lvl4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4pPr>
            <a:lvl5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5pPr>
            <a:lvl6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6pPr>
            <a:lvl7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7pPr>
            <a:lvl8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8pPr>
            <a:lvl9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253630"/>
                </a:solidFill>
                <a:latin typeface="Georgia"/>
                <a:ea typeface="Georgia"/>
                <a:cs typeface="Georgia"/>
              </a:rPr>
              <a:t>Pondasi aplikasi yang sudah dibangun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BF420C1-F193-42DF-9AC1-603F9D18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818B76"/>
                </a:solidFill>
                <a:latin typeface="Segoe UI"/>
                <a:ea typeface="Segoe UI"/>
                <a:cs typeface="Segoe UI"/>
              </a:rPr>
              <a:t>Naraya Aurentis Monolithic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EA8C7D0-9541-4837-9074-DB701DC7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C957F"/>
                </a:solidFill>
                <a:latin typeface="Segoe UI"/>
                <a:ea typeface="Segoe UI"/>
                <a:cs typeface="Segoe UI"/>
              </a:rPr>
              <a:t>26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A6F0EF-E20B-456F-8C50-D6A103B98859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76500"/>
                <a:gridCol w="8343900"/>
              </a:tblGrid>
              <a:tr h="7429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7F3E7"/>
                          </a:solidFill>
                          <a:latin typeface="Segoe UI"/>
                          <a:ea typeface="Segoe UI"/>
                          <a:cs typeface="Segoe UI"/>
                        </a:rPr>
                        <a:t>BAGIAN</a:t>
                      </a:r>
                    </a:p>
                  </a:txBody>
                  <a:tcPr marL="142875" marR="142875" marT="114300" marB="114300" anchor="ctr">
                    <a:lnL w="5239">
                      <a:solidFill>
                        <a:srgbClr val="D8DCCF"/>
                      </a:solidFill>
                      <a:prstDash val="solid"/>
                    </a:lnL>
                    <a:lnR w="5239">
                      <a:solidFill>
                        <a:srgbClr val="D8DCCF"/>
                      </a:solidFill>
                      <a:prstDash val="solid"/>
                    </a:lnR>
                    <a:lnT w="5239">
                      <a:solidFill>
                        <a:srgbClr val="D8DCCF"/>
                      </a:solidFill>
                      <a:prstDash val="solid"/>
                    </a:lnT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2536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7F3E7"/>
                          </a:solidFill>
                          <a:latin typeface="Segoe UI"/>
                          <a:ea typeface="Segoe UI"/>
                          <a:cs typeface="Segoe UI"/>
                        </a:rPr>
                        <a:t>IMPLEMENTASI DEMO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T w="5239">
                      <a:solidFill>
                        <a:srgbClr val="D8DCCF"/>
                      </a:solidFill>
                      <a:prstDash val="solid"/>
                    </a:lnT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253630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Antarmuka</a:t>
                      </a:r>
                    </a:p>
                  </a:txBody>
                  <a:tcPr marL="142875" marR="142875" marT="114300" marB="114300" anchor="ctr">
                    <a:lnL w="5239">
                      <a:solidFill>
                        <a:srgbClr val="D8DCCF"/>
                      </a:solidFill>
                      <a:prstDash val="solid"/>
                    </a:lnL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HTML, CSS dan JavaScript tanpa proses build.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AFAF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Backend</a:t>
                      </a:r>
                    </a:p>
                  </a:txBody>
                  <a:tcPr marL="142875" marR="142875" marT="114300" marB="114300" anchor="ctr">
                    <a:lnL w="5239">
                      <a:solidFill>
                        <a:srgbClr val="D8DCCF"/>
                      </a:solidFill>
                      <a:prstDash val="solid"/>
                    </a:lnL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4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FastAPI dengan modul klinik, Lab, keuangan, komunikasi, operasi, audit dan chat.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4F3ED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Database</a:t>
                      </a:r>
                    </a:p>
                  </a:txBody>
                  <a:tcPr marL="142875" marR="142875" marT="114300" marB="114300" anchor="ctr">
                    <a:lnL w="5239">
                      <a:solidFill>
                        <a:srgbClr val="D8DCCF"/>
                      </a:solidFill>
                      <a:prstDash val="solid"/>
                    </a:lnL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SQLite dengan migrasi Alembic 0001 dan 0002. Data lama tetap dipertahankan.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AFAF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Sesi dan akses</a:t>
                      </a:r>
                    </a:p>
                  </a:txBody>
                  <a:tcPr marL="142875" marR="142875" marT="114300" marB="114300" anchor="ctr">
                    <a:lnL w="5239">
                      <a:solidFill>
                        <a:srgbClr val="D8DCCF"/>
                      </a:solidFill>
                      <a:prstDash val="solid"/>
                    </a:lnL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4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Cookie HttpOnly, token CSRF per sesi, serta pemeriksaan peran dan scope objek.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4F3E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294760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38EC1570-9840-4F6A-BA4E-267C5C7E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defPPr>
            <a:lvl1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1pPr>
            <a:lvl2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2pPr>
            <a:lvl3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3pPr>
            <a:lvl4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4pPr>
            <a:lvl5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5pPr>
            <a:lvl6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6pPr>
            <a:lvl7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7pPr>
            <a:lvl8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8pPr>
            <a:lvl9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53630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253630"/>
                </a:solidFill>
                <a:latin typeface="Georgia"/>
                <a:ea typeface="Georgia"/>
                <a:cs typeface="Georgia"/>
              </a:rPr>
              <a:t>Hasil pengujian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FCD998B-2FB0-4EDD-BADD-9EDF4D0D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18B7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818B76"/>
                </a:solidFill>
                <a:latin typeface="Segoe UI"/>
                <a:ea typeface="Segoe UI"/>
                <a:cs typeface="Segoe UI"/>
              </a:rPr>
              <a:t>Naraya Aurentis Monolithic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7B8B369-D52B-420D-9536-3CC27A67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C957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C957F"/>
                </a:solidFill>
                <a:latin typeface="Segoe UI"/>
                <a:ea typeface="Segoe UI"/>
                <a:cs typeface="Segoe UI"/>
              </a:rPr>
              <a:t>27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5EBA615-48D3-45EF-990C-F2C0FF6C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0">
                <a:solidFill>
                  <a:srgbClr val="365544"/>
                </a:solidFill>
                <a:latin typeface="Georgia"/>
                <a:ea typeface="Georgia"/>
                <a:cs typeface="Georgia"/>
              </a:defRPr>
            </a:defPPr>
            <a:lvl1pPr>
              <a:defRPr sz="3600" b="0">
                <a:solidFill>
                  <a:srgbClr val="365544"/>
                </a:solidFill>
                <a:latin typeface="Georgia"/>
                <a:ea typeface="Georgia"/>
                <a:cs typeface="Georgia"/>
              </a:defRPr>
            </a:lvl1pPr>
            <a:lvl2pPr>
              <a:defRPr sz="3600" b="0">
                <a:solidFill>
                  <a:srgbClr val="365544"/>
                </a:solidFill>
                <a:latin typeface="Georgia"/>
                <a:ea typeface="Georgia"/>
                <a:cs typeface="Georgia"/>
              </a:defRPr>
            </a:lvl2pPr>
            <a:lvl3pPr>
              <a:defRPr sz="3600" b="0">
                <a:solidFill>
                  <a:srgbClr val="365544"/>
                </a:solidFill>
                <a:latin typeface="Georgia"/>
                <a:ea typeface="Georgia"/>
                <a:cs typeface="Georgia"/>
              </a:defRPr>
            </a:lvl3pPr>
            <a:lvl4pPr>
              <a:defRPr sz="3600" b="0">
                <a:solidFill>
                  <a:srgbClr val="365544"/>
                </a:solidFill>
                <a:latin typeface="Georgia"/>
                <a:ea typeface="Georgia"/>
                <a:cs typeface="Georgia"/>
              </a:defRPr>
            </a:lvl4pPr>
            <a:lvl5pPr>
              <a:defRPr sz="3600" b="0">
                <a:solidFill>
                  <a:srgbClr val="365544"/>
                </a:solidFill>
                <a:latin typeface="Georgia"/>
                <a:ea typeface="Georgia"/>
                <a:cs typeface="Georgia"/>
              </a:defRPr>
            </a:lvl5pPr>
            <a:lvl6pPr>
              <a:defRPr sz="3600" b="0">
                <a:solidFill>
                  <a:srgbClr val="365544"/>
                </a:solidFill>
                <a:latin typeface="Georgia"/>
                <a:ea typeface="Georgia"/>
                <a:cs typeface="Georgia"/>
              </a:defRPr>
            </a:lvl6pPr>
            <a:lvl7pPr>
              <a:defRPr sz="3600" b="0">
                <a:solidFill>
                  <a:srgbClr val="365544"/>
                </a:solidFill>
                <a:latin typeface="Georgia"/>
                <a:ea typeface="Georgia"/>
                <a:cs typeface="Georgia"/>
              </a:defRPr>
            </a:lvl7pPr>
            <a:lvl8pPr>
              <a:defRPr sz="3600" b="0">
                <a:solidFill>
                  <a:srgbClr val="365544"/>
                </a:solidFill>
                <a:latin typeface="Georgia"/>
                <a:ea typeface="Georgia"/>
                <a:cs typeface="Georgia"/>
              </a:defRPr>
            </a:lvl8pPr>
            <a:lvl9pPr>
              <a:defRPr sz="3600" b="0">
                <a:solidFill>
                  <a:srgbClr val="365544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365544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365544"/>
                </a:solidFill>
                <a:latin typeface="Georgia"/>
                <a:ea typeface="Georgia"/>
                <a:cs typeface="Georgia"/>
              </a:rPr>
              <a:t>52 tes otomatis lulus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620AA-D4BB-4E16-886D-B40D17D87249}"/>
              </a:ext>
            </a:extLst>
          </p:cNvPr>
          <p:cNvGraphicFramePr/>
          <p:nvPr/>
        </p:nvGraphicFramePr>
        <p:xfrm>
          <a:off xmlns:a="http://schemas.openxmlformats.org/drawingml/2006/main" x="685800" y="2647950"/>
          <a:ext xmlns:a="http://schemas.openxmlformats.org/drawingml/2006/main" cx="10820400" cy="3143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71750"/>
                <a:gridCol w="8248650"/>
              </a:tblGrid>
              <a:tr h="6286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7F3E7"/>
                          </a:solidFill>
                          <a:latin typeface="Segoe UI"/>
                          <a:ea typeface="Segoe UI"/>
                          <a:cs typeface="Segoe UI"/>
                        </a:rPr>
                        <a:t>AREA</a:t>
                      </a:r>
                    </a:p>
                  </a:txBody>
                  <a:tcPr marL="142875" marR="142875" marT="114300" marB="114300" anchor="ctr">
                    <a:lnL w="5239">
                      <a:solidFill>
                        <a:srgbClr val="D8DCCF"/>
                      </a:solidFill>
                      <a:prstDash val="solid"/>
                    </a:lnL>
                    <a:lnR w="5239">
                      <a:solidFill>
                        <a:srgbClr val="D8DCCF"/>
                      </a:solidFill>
                      <a:prstDash val="solid"/>
                    </a:lnR>
                    <a:lnT w="5239">
                      <a:solidFill>
                        <a:srgbClr val="D8DCCF"/>
                      </a:solidFill>
                      <a:prstDash val="solid"/>
                    </a:lnT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2536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7F3E7"/>
                          </a:solidFill>
                          <a:latin typeface="Segoe UI"/>
                          <a:ea typeface="Segoe UI"/>
                          <a:cs typeface="Segoe UI"/>
                        </a:rPr>
                        <a:t>YANG DIPERIKSA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T w="5239">
                      <a:solidFill>
                        <a:srgbClr val="D8DCCF"/>
                      </a:solidFill>
                      <a:prstDash val="solid"/>
                    </a:lnT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25363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Hak akses</a:t>
                      </a:r>
                    </a:p>
                  </a:txBody>
                  <a:tcPr marL="142875" marR="142875" marT="114300" marB="114300" anchor="ctr">
                    <a:lnL w="5239">
                      <a:solidFill>
                        <a:srgbClr val="D8DCCF"/>
                      </a:solidFill>
                      <a:prstDash val="solid"/>
                    </a:lnL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Peran, organisasi, data order dan percakapan lintas akun.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AFA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Workflow</a:t>
                      </a:r>
                    </a:p>
                  </a:txBody>
                  <a:tcPr marL="142875" marR="142875" marT="114300" marB="114300" anchor="ctr">
                    <a:lnL w="5239">
                      <a:solidFill>
                        <a:srgbClr val="D8DCCF"/>
                      </a:solidFill>
                      <a:prstDash val="solid"/>
                    </a:lnL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4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Penerimaan, produksi, QC, revisi tanggal dan verifikasi FAT.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4F3E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Keandalan chat</a:t>
                      </a:r>
                    </a:p>
                  </a:txBody>
                  <a:tcPr marL="142875" marR="142875" marT="114300" marB="114300" anchor="ctr">
                    <a:lnL w="5239">
                      <a:solidFill>
                        <a:srgbClr val="D8DCCF"/>
                      </a:solidFill>
                      <a:prstDash val="solid"/>
                    </a:lnL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Retry pesan, satu petugas per percakapan, penutupan dan audit.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AFA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Database dan sesi</a:t>
                      </a:r>
                    </a:p>
                  </a:txBody>
                  <a:tcPr marL="142875" marR="142875" marT="114300" marB="114300" anchor="ctr">
                    <a:lnL w="5239">
                      <a:solidFill>
                        <a:srgbClr val="D8DCCF"/>
                      </a:solidFill>
                      <a:prstDash val="solid"/>
                    </a:lnL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4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30"/>
                          </a:solidFill>
                          <a:latin typeface="Segoe UI"/>
                          <a:ea typeface="Segoe UI"/>
                          <a:cs typeface="Segoe UI"/>
                        </a:rPr>
                        <a:t>Migrasi data lama, pemulihan sesi, dan keamanan CSRF.</a:t>
                      </a:r>
                    </a:p>
                  </a:txBody>
                  <a:tcPr marL="142875" marR="142875" marT="114300" marB="114300" anchor="ctr">
                    <a:lnR w="5239">
                      <a:solidFill>
                        <a:srgbClr val="D8DCCF"/>
                      </a:solidFill>
                      <a:prstDash val="solid"/>
                    </a:lnR>
                    <a:lnB w="5239">
                      <a:solidFill>
                        <a:srgbClr val="D8DCCF"/>
                      </a:solidFill>
                      <a:prstDash val="solid"/>
                    </a:lnB>
                    <a:solidFill>
                      <a:srgbClr val="F4F3ED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365FF62-494A-48B1-8BD7-B0117993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defPPr>
            <a:lvl1pPr>
              <a:defRPr sz="15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1pPr>
            <a:lvl2pPr>
              <a:defRPr sz="15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2pPr>
            <a:lvl3pPr>
              <a:defRPr sz="15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3pPr>
            <a:lvl4pPr>
              <a:defRPr sz="15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4pPr>
            <a:lvl5pPr>
              <a:defRPr sz="15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5pPr>
            <a:lvl6pPr>
              <a:defRPr sz="15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6pPr>
            <a:lvl7pPr>
              <a:defRPr sz="15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7pPr>
            <a:lvl8pPr>
              <a:defRPr sz="15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8pPr>
            <a:lvl9pPr>
              <a:defRPr sz="15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D7967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6D7967"/>
                </a:solidFill>
                <a:latin typeface="Segoe UI"/>
                <a:ea typeface="Segoe UI"/>
                <a:cs typeface="Segoe UI"/>
              </a:rPr>
              <a:t>Pemeriksaan layar mencakup laptop, HP, hasil QC, verifikasi penerimaan demo dan balasan petugas CS.</a:t>
            </a:r>
          </a:p>
        </p:txBody>
      </p:sp>
    </p:spTree>
    <p:extLst>
      <p:ext uri="{BB962C8B-B14F-4D97-AF65-F5344CB8AC3E}">
        <p14:creationId xmlns:p14="http://schemas.microsoft.com/office/powerpoint/2010/main" val="153006728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2536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29881B6F-5F39-4FCB-932F-52C6C55B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F7F3E7"/>
                </a:solidFill>
                <a:latin typeface="Georgia"/>
                <a:ea typeface="Georgia"/>
                <a:cs typeface="Georgia"/>
              </a:defRPr>
            </a:defPPr>
            <a:lvl1pPr>
              <a:defRPr sz="3300" b="0">
                <a:solidFill>
                  <a:srgbClr val="F7F3E7"/>
                </a:solidFill>
                <a:latin typeface="Georgia"/>
                <a:ea typeface="Georgia"/>
                <a:cs typeface="Georgia"/>
              </a:defRPr>
            </a:lvl1pPr>
            <a:lvl2pPr>
              <a:defRPr sz="3300" b="0">
                <a:solidFill>
                  <a:srgbClr val="F7F3E7"/>
                </a:solidFill>
                <a:latin typeface="Georgia"/>
                <a:ea typeface="Georgia"/>
                <a:cs typeface="Georgia"/>
              </a:defRPr>
            </a:lvl2pPr>
            <a:lvl3pPr>
              <a:defRPr sz="3300" b="0">
                <a:solidFill>
                  <a:srgbClr val="F7F3E7"/>
                </a:solidFill>
                <a:latin typeface="Georgia"/>
                <a:ea typeface="Georgia"/>
                <a:cs typeface="Georgia"/>
              </a:defRPr>
            </a:lvl3pPr>
            <a:lvl4pPr>
              <a:defRPr sz="3300" b="0">
                <a:solidFill>
                  <a:srgbClr val="F7F3E7"/>
                </a:solidFill>
                <a:latin typeface="Georgia"/>
                <a:ea typeface="Georgia"/>
                <a:cs typeface="Georgia"/>
              </a:defRPr>
            </a:lvl4pPr>
            <a:lvl5pPr>
              <a:defRPr sz="3300" b="0">
                <a:solidFill>
                  <a:srgbClr val="F7F3E7"/>
                </a:solidFill>
                <a:latin typeface="Georgia"/>
                <a:ea typeface="Georgia"/>
                <a:cs typeface="Georgia"/>
              </a:defRPr>
            </a:lvl5pPr>
            <a:lvl6pPr>
              <a:defRPr sz="3300" b="0">
                <a:solidFill>
                  <a:srgbClr val="F7F3E7"/>
                </a:solidFill>
                <a:latin typeface="Georgia"/>
                <a:ea typeface="Georgia"/>
                <a:cs typeface="Georgia"/>
              </a:defRPr>
            </a:lvl6pPr>
            <a:lvl7pPr>
              <a:defRPr sz="3300" b="0">
                <a:solidFill>
                  <a:srgbClr val="F7F3E7"/>
                </a:solidFill>
                <a:latin typeface="Georgia"/>
                <a:ea typeface="Georgia"/>
                <a:cs typeface="Georgia"/>
              </a:defRPr>
            </a:lvl7pPr>
            <a:lvl8pPr>
              <a:defRPr sz="3300" b="0">
                <a:solidFill>
                  <a:srgbClr val="F7F3E7"/>
                </a:solidFill>
                <a:latin typeface="Georgia"/>
                <a:ea typeface="Georgia"/>
                <a:cs typeface="Georgia"/>
              </a:defRPr>
            </a:lvl8pPr>
            <a:lvl9pPr>
              <a:defRPr sz="3300" b="0">
                <a:solidFill>
                  <a:srgbClr val="F7F3E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F7F3E7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F7F3E7"/>
                </a:solidFill>
                <a:latin typeface="Georgia"/>
                <a:ea typeface="Georgia"/>
                <a:cs typeface="Georgia"/>
              </a:rPr>
              <a:t>Batas demo dan pekerjaan berikutnya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D1570BB-F026-4A99-B472-85852C2D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ADBAA5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ADBAA5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ADBAA5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ADBAA5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ADBAA5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ADBAA5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ADBAA5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ADBAA5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ADBAA5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ADBAA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DBAA5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ADBAA5"/>
                </a:solidFill>
                <a:latin typeface="Segoe UI"/>
                <a:ea typeface="Segoe UI"/>
                <a:cs typeface="Segoe UI"/>
              </a:rPr>
              <a:t>Naraya Aurentis Monolithic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CCE8166-2C90-4DC2-93CE-6ECAF216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79760"/>
                </a:solidFill>
                <a:latin typeface="Segoe UI"/>
                <a:ea typeface="Segoe UI"/>
                <a:cs typeface="Segoe UI"/>
              </a:rPr>
              <a:t>28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F54EF82-21F9-4C3D-94C8-021D3519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B79760"/>
                </a:solidFill>
                <a:latin typeface="Segoe UI"/>
                <a:ea typeface="Segoe UI"/>
                <a:cs typeface="Segoe UI"/>
              </a:rPr>
              <a:t>Asisten AI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3172A32-03CC-4141-9781-C4AE8CE2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33550"/>
            <a:ext cx="709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D0D8C6"/>
                </a:solidFill>
                <a:latin typeface="Segoe UI"/>
                <a:ea typeface="Segoe UI"/>
                <a:cs typeface="Segoe UI"/>
              </a:rPr>
              <a:t>Jawaban masih dari mock lokal. Provider dan kredensial AI nyata belum diberikan.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57B9C16-A740-4380-B0C5-36563CC4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B79760"/>
                </a:solidFill>
                <a:latin typeface="Segoe UI"/>
                <a:ea typeface="Segoe UI"/>
                <a:cs typeface="Segoe UI"/>
              </a:rPr>
              <a:t>Pembayaran dan pesan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9527C70-9F7D-4E71-998F-30AB99F4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90825"/>
            <a:ext cx="709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D0D8C6"/>
                </a:solidFill>
                <a:latin typeface="Segoe UI"/>
                <a:ea typeface="Segoe UI"/>
                <a:cs typeface="Segoe UI"/>
              </a:rPr>
              <a:t>FAT melakukan simulasi manual. Bank, gateway, WhatsApp, SMS dan email belum terhubung.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915824A-5524-4859-96E0-29DAB6F9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B79760"/>
                </a:solidFill>
                <a:latin typeface="Segoe UI"/>
                <a:ea typeface="Segoe UI"/>
                <a:cs typeface="Segoe UI"/>
              </a:rPr>
              <a:t>Modul lanjutan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98AD880B-CB13-468D-BBFA-EED23CBD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48100"/>
            <a:ext cx="709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D0D8C6"/>
                </a:solidFill>
                <a:latin typeface="Segoe UI"/>
                <a:ea typeface="Segoe UI"/>
                <a:cs typeface="Segoe UI"/>
              </a:rPr>
              <a:t>Gudang, purchasing, HR dan CAD/CAM mendalam masih perlu pengembangan.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91AF350-AAC4-4222-9588-EC1F1384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B79760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B79760"/>
                </a:solidFill>
                <a:latin typeface="Segoe UI"/>
                <a:ea typeface="Segoe UI"/>
                <a:cs typeface="Segoe UI"/>
              </a:rPr>
              <a:t>Sebelum operasional nyata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CA1C7053-98B0-4DE7-82FE-54042835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05375"/>
            <a:ext cx="709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D0D8C6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D0D8C6"/>
                </a:solidFill>
                <a:latin typeface="Segoe UI"/>
                <a:ea typeface="Segoe UI"/>
                <a:cs typeface="Segoe UI"/>
              </a:rPr>
              <a:t>MFA, consent sah, PostgreSQL, audit terlindungi dan seluruh security gates harus dituntaskan.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BFE90594-B400-43A9-AC4B-CAC5977E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F7F3E7"/>
                </a:solidFill>
                <a:latin typeface="Segoe UI"/>
                <a:ea typeface="Segoe UI"/>
                <a:cs typeface="Segoe UI"/>
              </a:defRPr>
            </a:defPPr>
            <a:lvl1pPr>
              <a:defRPr sz="1575" b="0">
                <a:solidFill>
                  <a:srgbClr val="F7F3E7"/>
                </a:solidFill>
                <a:latin typeface="Segoe UI"/>
                <a:ea typeface="Segoe UI"/>
                <a:cs typeface="Segoe UI"/>
              </a:defRPr>
            </a:lvl1pPr>
            <a:lvl2pPr>
              <a:defRPr sz="1575" b="0">
                <a:solidFill>
                  <a:srgbClr val="F7F3E7"/>
                </a:solidFill>
                <a:latin typeface="Segoe UI"/>
                <a:ea typeface="Segoe UI"/>
                <a:cs typeface="Segoe UI"/>
              </a:defRPr>
            </a:lvl2pPr>
            <a:lvl3pPr>
              <a:defRPr sz="1575" b="0">
                <a:solidFill>
                  <a:srgbClr val="F7F3E7"/>
                </a:solidFill>
                <a:latin typeface="Segoe UI"/>
                <a:ea typeface="Segoe UI"/>
                <a:cs typeface="Segoe UI"/>
              </a:defRPr>
            </a:lvl3pPr>
            <a:lvl4pPr>
              <a:defRPr sz="1575" b="0">
                <a:solidFill>
                  <a:srgbClr val="F7F3E7"/>
                </a:solidFill>
                <a:latin typeface="Segoe UI"/>
                <a:ea typeface="Segoe UI"/>
                <a:cs typeface="Segoe UI"/>
              </a:defRPr>
            </a:lvl4pPr>
            <a:lvl5pPr>
              <a:defRPr sz="1575" b="0">
                <a:solidFill>
                  <a:srgbClr val="F7F3E7"/>
                </a:solidFill>
                <a:latin typeface="Segoe UI"/>
                <a:ea typeface="Segoe UI"/>
                <a:cs typeface="Segoe UI"/>
              </a:defRPr>
            </a:lvl5pPr>
            <a:lvl6pPr>
              <a:defRPr sz="1575" b="0">
                <a:solidFill>
                  <a:srgbClr val="F7F3E7"/>
                </a:solidFill>
                <a:latin typeface="Segoe UI"/>
                <a:ea typeface="Segoe UI"/>
                <a:cs typeface="Segoe UI"/>
              </a:defRPr>
            </a:lvl6pPr>
            <a:lvl7pPr>
              <a:defRPr sz="1575" b="0">
                <a:solidFill>
                  <a:srgbClr val="F7F3E7"/>
                </a:solidFill>
                <a:latin typeface="Segoe UI"/>
                <a:ea typeface="Segoe UI"/>
                <a:cs typeface="Segoe UI"/>
              </a:defRPr>
            </a:lvl7pPr>
            <a:lvl8pPr>
              <a:defRPr sz="1575" b="0">
                <a:solidFill>
                  <a:srgbClr val="F7F3E7"/>
                </a:solidFill>
                <a:latin typeface="Segoe UI"/>
                <a:ea typeface="Segoe UI"/>
                <a:cs typeface="Segoe UI"/>
              </a:defRPr>
            </a:lvl8pPr>
            <a:lvl9pPr>
              <a:defRPr sz="1575" b="0">
                <a:solidFill>
                  <a:srgbClr val="F7F3E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7F3E7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7F3E7"/>
                </a:solidFill>
                <a:latin typeface="Segoe UI"/>
                <a:ea typeface="Segoe UI"/>
                <a:cs typeface="Segoe UI"/>
              </a:rPr>
              <a:t>Gunakan data fiktif saja. Demo ini belum boleh menyimpan data pasien atau memproses pembayaran nyata.</a:t>
            </a:r>
          </a:p>
        </p:txBody>
      </p:sp>
    </p:spTree>
    <p:extLst>
      <p:ext uri="{BB962C8B-B14F-4D97-AF65-F5344CB8AC3E}">
        <p14:creationId xmlns:p14="http://schemas.microsoft.com/office/powerpoint/2010/main" val="3723305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2026-10-19T11:58:00.3350000Z</dcterms:created>
  <dcterms:modified xsi:type="dcterms:W3CDTF">2026-10-19T11:58:00.3350000Z</dcterms:modified>
</coreProperties>
</file>