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a6a488c56c46cd" /><Relationship Type="http://schemas.openxmlformats.org/officeDocument/2006/relationships/extended-properties" Target="/docProps/app.xml" Id="R4d4dee38c4904bed" /><Relationship Type="http://schemas.openxmlformats.org/officeDocument/2006/relationships/officeDocument" Target="/ppt/presentation.xml" Id="R989983209cb6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8b0b08e6b41b7"/>
  </p:sldMasterIdLst>
  <p:notesMasterIdLst>
    <p:notesMasterId xmlns:r="http://schemas.openxmlformats.org/officeDocument/2006/relationships" r:id="R625b3a47ab0b4776"/>
  </p:notesMasterIdLst>
  <p:sldIdLst>
    <p:sldId xmlns:r="http://schemas.openxmlformats.org/officeDocument/2006/relationships" id="256" r:id="R279e214fae4745c6"/>
    <p:sldId xmlns:r="http://schemas.openxmlformats.org/officeDocument/2006/relationships" id="257" r:id="Rd0d76096088d4b6c"/>
    <p:sldId xmlns:r="http://schemas.openxmlformats.org/officeDocument/2006/relationships" id="258" r:id="R2450a378b8d14978"/>
    <p:sldId xmlns:r="http://schemas.openxmlformats.org/officeDocument/2006/relationships" id="259" r:id="Re097ff06dd574399"/>
    <p:sldId xmlns:r="http://schemas.openxmlformats.org/officeDocument/2006/relationships" id="260" r:id="Rbe2f6d6b7fbf4630"/>
    <p:sldId xmlns:r="http://schemas.openxmlformats.org/officeDocument/2006/relationships" id="261" r:id="Rd05405a198be4220"/>
    <p:sldId xmlns:r="http://schemas.openxmlformats.org/officeDocument/2006/relationships" id="262" r:id="Rb550fdecd64b415f"/>
    <p:sldId xmlns:r="http://schemas.openxmlformats.org/officeDocument/2006/relationships" id="263" r:id="Ra8b9ca1129344e05"/>
    <p:sldId xmlns:r="http://schemas.openxmlformats.org/officeDocument/2006/relationships" id="264" r:id="R5b8affa26b1b4fb4"/>
    <p:sldId xmlns:r="http://schemas.openxmlformats.org/officeDocument/2006/relationships" id="265" r:id="R5a44858a853445a1"/>
    <p:sldId xmlns:r="http://schemas.openxmlformats.org/officeDocument/2006/relationships" id="266" r:id="Ra8a2ae22cc244f91"/>
    <p:sldId xmlns:r="http://schemas.openxmlformats.org/officeDocument/2006/relationships" id="267" r:id="Rd6d220d4b07d4593"/>
    <p:sldId xmlns:r="http://schemas.openxmlformats.org/officeDocument/2006/relationships" id="268" r:id="R80ae2db355844832"/>
    <p:sldId xmlns:r="http://schemas.openxmlformats.org/officeDocument/2006/relationships" id="269" r:id="Rc553b0c51d2d4965"/>
    <p:sldId xmlns:r="http://schemas.openxmlformats.org/officeDocument/2006/relationships" id="270" r:id="R9aed12e38aaa4359"/>
    <p:sldId xmlns:r="http://schemas.openxmlformats.org/officeDocument/2006/relationships" id="271" r:id="R1ac62031724e4b6e"/>
    <p:sldId xmlns:r="http://schemas.openxmlformats.org/officeDocument/2006/relationships" id="272" r:id="R7e109f13f0b846b1"/>
    <p:sldId xmlns:r="http://schemas.openxmlformats.org/officeDocument/2006/relationships" id="273" r:id="Ra753135cbd8d4e3c"/>
    <p:sldId xmlns:r="http://schemas.openxmlformats.org/officeDocument/2006/relationships" id="274" r:id="R1e26403c1ca54976"/>
    <p:sldId xmlns:r="http://schemas.openxmlformats.org/officeDocument/2006/relationships" id="275" r:id="Rbef6d94189594593"/>
    <p:sldId xmlns:r="http://schemas.openxmlformats.org/officeDocument/2006/relationships" id="276" r:id="R197466792dd74c66"/>
    <p:sldId xmlns:r="http://schemas.openxmlformats.org/officeDocument/2006/relationships" id="277" r:id="R67ab6333ec7540a7"/>
    <p:sldId xmlns:r="http://schemas.openxmlformats.org/officeDocument/2006/relationships" id="278" r:id="Rd2c3b83e812144c8"/>
    <p:sldId xmlns:r="http://schemas.openxmlformats.org/officeDocument/2006/relationships" id="279" r:id="R0461cdbd483446cf"/>
    <p:sldId xmlns:r="http://schemas.openxmlformats.org/officeDocument/2006/relationships" id="280" r:id="R2f04317fdc5c4705"/>
    <p:sldId xmlns:r="http://schemas.openxmlformats.org/officeDocument/2006/relationships" id="281" r:id="R560836eafab1407d"/>
    <p:sldId xmlns:r="http://schemas.openxmlformats.org/officeDocument/2006/relationships" id="282" r:id="Ra4c87b4ec53942ab"/>
    <p:sldId xmlns:r="http://schemas.openxmlformats.org/officeDocument/2006/relationships" id="283" r:id="R5e6da52c05044040"/>
    <p:sldId xmlns:r="http://schemas.openxmlformats.org/officeDocument/2006/relationships" id="284" r:id="Rc197905a2f8f4833"/>
    <p:sldId xmlns:r="http://schemas.openxmlformats.org/officeDocument/2006/relationships" id="285" r:id="Rfa1dc63208144023"/>
    <p:sldId xmlns:r="http://schemas.openxmlformats.org/officeDocument/2006/relationships" id="286" r:id="R73edacdfed5e4e59"/>
    <p:sldId xmlns:r="http://schemas.openxmlformats.org/officeDocument/2006/relationships" id="287" r:id="R4d4726a247e94522"/>
    <p:sldId xmlns:r="http://schemas.openxmlformats.org/officeDocument/2006/relationships" id="288" r:id="Rdf7e698254dc46ec"/>
    <p:sldId xmlns:r="http://schemas.openxmlformats.org/officeDocument/2006/relationships" id="289" r:id="R19cca2a1f2184f42"/>
    <p:sldId xmlns:r="http://schemas.openxmlformats.org/officeDocument/2006/relationships" id="290" r:id="R32bdac42b13d4dd0"/>
    <p:sldId xmlns:r="http://schemas.openxmlformats.org/officeDocument/2006/relationships" id="291" r:id="R18fd63aec5a74063"/>
    <p:sldId xmlns:r="http://schemas.openxmlformats.org/officeDocument/2006/relationships" id="292" r:id="R18183374d131440d"/>
    <p:sldId xmlns:r="http://schemas.openxmlformats.org/officeDocument/2006/relationships" id="293" r:id="R317bb9caae874c26"/>
    <p:sldId xmlns:r="http://schemas.openxmlformats.org/officeDocument/2006/relationships" id="294" r:id="Raa5da3e3887d4cc1"/>
    <p:sldId xmlns:r="http://schemas.openxmlformats.org/officeDocument/2006/relationships" id="295" r:id="Ra7d619dbf6f54fd3"/>
    <p:sldId xmlns:r="http://schemas.openxmlformats.org/officeDocument/2006/relationships" id="296" r:id="Rfc8906febeea49bb"/>
    <p:sldId xmlns:r="http://schemas.openxmlformats.org/officeDocument/2006/relationships" id="297" r:id="Rd9dfb6eb8d144f9b"/>
    <p:sldId xmlns:r="http://schemas.openxmlformats.org/officeDocument/2006/relationships" id="298" r:id="R849111e4d2a0405f"/>
    <p:sldId xmlns:r="http://schemas.openxmlformats.org/officeDocument/2006/relationships" id="299" r:id="R0ffa38f0882a4740"/>
    <p:sldId xmlns:r="http://schemas.openxmlformats.org/officeDocument/2006/relationships" id="300" r:id="Rb07efcb175a54360"/>
    <p:sldId xmlns:r="http://schemas.openxmlformats.org/officeDocument/2006/relationships" id="301" r:id="Re8fa28cac90945bd"/>
    <p:sldId xmlns:r="http://schemas.openxmlformats.org/officeDocument/2006/relationships" id="302" r:id="R45104a3e151541d6"/>
    <p:sldId xmlns:r="http://schemas.openxmlformats.org/officeDocument/2006/relationships" id="303" r:id="R66fbbe26ce1d41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044e34e5348d2" /><Relationship Type="http://schemas.openxmlformats.org/officeDocument/2006/relationships/slideMaster" Target="/ppt/slideMasters/slideMaster1.xml" Id="Rb238b0b08e6b41b7" /><Relationship Type="http://schemas.openxmlformats.org/officeDocument/2006/relationships/notesMaster" Target="/ppt/notesMasters/notesMaster1.xml" Id="R625b3a47ab0b4776" /><Relationship Type="http://schemas.openxmlformats.org/officeDocument/2006/relationships/presProps" Target="/ppt/presProps.xml" Id="R3257c8a4a53548c4" /><Relationship Type="http://schemas.openxmlformats.org/officeDocument/2006/relationships/tableStyles" Target="/ppt/tableStyles.xml" Id="R29fdc2f535e04fdb" /><Relationship Type="http://schemas.openxmlformats.org/officeDocument/2006/relationships/slide" Target="/ppt/slides/slide1.xml" Id="R279e214fae4745c6" /><Relationship Type="http://schemas.openxmlformats.org/officeDocument/2006/relationships/slide" Target="/ppt/slides/slide2.xml" Id="Rd0d76096088d4b6c" /><Relationship Type="http://schemas.openxmlformats.org/officeDocument/2006/relationships/slide" Target="/ppt/slides/slide3.xml" Id="R2450a378b8d14978" /><Relationship Type="http://schemas.openxmlformats.org/officeDocument/2006/relationships/slide" Target="/ppt/slides/slide4.xml" Id="Re097ff06dd574399" /><Relationship Type="http://schemas.openxmlformats.org/officeDocument/2006/relationships/slide" Target="/ppt/slides/slide5.xml" Id="Rbe2f6d6b7fbf4630" /><Relationship Type="http://schemas.openxmlformats.org/officeDocument/2006/relationships/slide" Target="/ppt/slides/slide6.xml" Id="Rd05405a198be4220" /><Relationship Type="http://schemas.openxmlformats.org/officeDocument/2006/relationships/slide" Target="/ppt/slides/slide7.xml" Id="Rb550fdecd64b415f" /><Relationship Type="http://schemas.openxmlformats.org/officeDocument/2006/relationships/slide" Target="/ppt/slides/slide8.xml" Id="Ra8b9ca1129344e05" /><Relationship Type="http://schemas.openxmlformats.org/officeDocument/2006/relationships/slide" Target="/ppt/slides/slide9.xml" Id="R5b8affa26b1b4fb4" /><Relationship Type="http://schemas.openxmlformats.org/officeDocument/2006/relationships/slide" Target="/ppt/slides/slide10.xml" Id="R5a44858a853445a1" /><Relationship Type="http://schemas.openxmlformats.org/officeDocument/2006/relationships/slide" Target="/ppt/slides/slide11.xml" Id="Ra8a2ae22cc244f91" /><Relationship Type="http://schemas.openxmlformats.org/officeDocument/2006/relationships/slide" Target="/ppt/slides/slide12.xml" Id="Rd6d220d4b07d4593" /><Relationship Type="http://schemas.openxmlformats.org/officeDocument/2006/relationships/slide" Target="/ppt/slides/slide13.xml" Id="R80ae2db355844832" /><Relationship Type="http://schemas.openxmlformats.org/officeDocument/2006/relationships/slide" Target="/ppt/slides/slide14.xml" Id="Rc553b0c51d2d4965" /><Relationship Type="http://schemas.openxmlformats.org/officeDocument/2006/relationships/slide" Target="/ppt/slides/slide15.xml" Id="R9aed12e38aaa4359" /><Relationship Type="http://schemas.openxmlformats.org/officeDocument/2006/relationships/slide" Target="/ppt/slides/slide16.xml" Id="R1ac62031724e4b6e" /><Relationship Type="http://schemas.openxmlformats.org/officeDocument/2006/relationships/slide" Target="/ppt/slides/slide17.xml" Id="R7e109f13f0b846b1" /><Relationship Type="http://schemas.openxmlformats.org/officeDocument/2006/relationships/slide" Target="/ppt/slides/slide18.xml" Id="Ra753135cbd8d4e3c" /><Relationship Type="http://schemas.openxmlformats.org/officeDocument/2006/relationships/slide" Target="/ppt/slides/slide19.xml" Id="R1e26403c1ca54976" /><Relationship Type="http://schemas.openxmlformats.org/officeDocument/2006/relationships/slide" Target="/ppt/slides/slide20.xml" Id="Rbef6d94189594593" /><Relationship Type="http://schemas.openxmlformats.org/officeDocument/2006/relationships/slide" Target="/ppt/slides/slide21.xml" Id="R197466792dd74c66" /><Relationship Type="http://schemas.openxmlformats.org/officeDocument/2006/relationships/slide" Target="/ppt/slides/slide22.xml" Id="R67ab6333ec7540a7" /><Relationship Type="http://schemas.openxmlformats.org/officeDocument/2006/relationships/slide" Target="/ppt/slides/slide23.xml" Id="Rd2c3b83e812144c8" /><Relationship Type="http://schemas.openxmlformats.org/officeDocument/2006/relationships/slide" Target="/ppt/slides/slide24.xml" Id="R0461cdbd483446cf" /><Relationship Type="http://schemas.openxmlformats.org/officeDocument/2006/relationships/slide" Target="/ppt/slides/slide25.xml" Id="R2f04317fdc5c4705" /><Relationship Type="http://schemas.openxmlformats.org/officeDocument/2006/relationships/slide" Target="/ppt/slides/slide26.xml" Id="R560836eafab1407d" /><Relationship Type="http://schemas.openxmlformats.org/officeDocument/2006/relationships/slide" Target="/ppt/slides/slide27.xml" Id="Ra4c87b4ec53942ab" /><Relationship Type="http://schemas.openxmlformats.org/officeDocument/2006/relationships/slide" Target="/ppt/slides/slide28.xml" Id="R5e6da52c05044040" /><Relationship Type="http://schemas.openxmlformats.org/officeDocument/2006/relationships/slide" Target="/ppt/slides/slide29.xml" Id="Rc197905a2f8f4833" /><Relationship Type="http://schemas.openxmlformats.org/officeDocument/2006/relationships/slide" Target="/ppt/slides/slide30.xml" Id="Rfa1dc63208144023" /><Relationship Type="http://schemas.openxmlformats.org/officeDocument/2006/relationships/slide" Target="/ppt/slides/slide31.xml" Id="R73edacdfed5e4e59" /><Relationship Type="http://schemas.openxmlformats.org/officeDocument/2006/relationships/slide" Target="/ppt/slides/slide32.xml" Id="R4d4726a247e94522" /><Relationship Type="http://schemas.openxmlformats.org/officeDocument/2006/relationships/slide" Target="/ppt/slides/slide33.xml" Id="Rdf7e698254dc46ec" /><Relationship Type="http://schemas.openxmlformats.org/officeDocument/2006/relationships/slide" Target="/ppt/slides/slide34.xml" Id="R19cca2a1f2184f42" /><Relationship Type="http://schemas.openxmlformats.org/officeDocument/2006/relationships/slide" Target="/ppt/slides/slide35.xml" Id="R32bdac42b13d4dd0" /><Relationship Type="http://schemas.openxmlformats.org/officeDocument/2006/relationships/slide" Target="/ppt/slides/slide36.xml" Id="R18fd63aec5a74063" /><Relationship Type="http://schemas.openxmlformats.org/officeDocument/2006/relationships/slide" Target="/ppt/slides/slide37.xml" Id="R18183374d131440d" /><Relationship Type="http://schemas.openxmlformats.org/officeDocument/2006/relationships/slide" Target="/ppt/slides/slide38.xml" Id="R317bb9caae874c26" /><Relationship Type="http://schemas.openxmlformats.org/officeDocument/2006/relationships/slide" Target="/ppt/slides/slide39.xml" Id="Raa5da3e3887d4cc1" /><Relationship Type="http://schemas.openxmlformats.org/officeDocument/2006/relationships/slide" Target="/ppt/slides/slide40.xml" Id="Ra7d619dbf6f54fd3" /><Relationship Type="http://schemas.openxmlformats.org/officeDocument/2006/relationships/slide" Target="/ppt/slides/slide41.xml" Id="Rfc8906febeea49bb" /><Relationship Type="http://schemas.openxmlformats.org/officeDocument/2006/relationships/slide" Target="/ppt/slides/slide42.xml" Id="Rd9dfb6eb8d144f9b" /><Relationship Type="http://schemas.openxmlformats.org/officeDocument/2006/relationships/slide" Target="/ppt/slides/slide43.xml" Id="R849111e4d2a0405f" /><Relationship Type="http://schemas.openxmlformats.org/officeDocument/2006/relationships/slide" Target="/ppt/slides/slide44.xml" Id="R0ffa38f0882a4740" /><Relationship Type="http://schemas.openxmlformats.org/officeDocument/2006/relationships/slide" Target="/ppt/slides/slide45.xml" Id="Rb07efcb175a54360" /><Relationship Type="http://schemas.openxmlformats.org/officeDocument/2006/relationships/slide" Target="/ppt/slides/slide46.xml" Id="Re8fa28cac90945bd" /><Relationship Type="http://schemas.openxmlformats.org/officeDocument/2006/relationships/slide" Target="/ppt/slides/slide47.xml" Id="R45104a3e151541d6" /><Relationship Type="http://schemas.openxmlformats.org/officeDocument/2006/relationships/slide" Target="/ppt/slides/slide48.xml" Id="R66fbbe26ce1d41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99892bd7e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cb9f430cbd43f7" /><Relationship Type="http://schemas.openxmlformats.org/officeDocument/2006/relationships/notesMaster" Target="/ppt/notesMasters/notesMaster1.xml" Id="R7972fffc5d9b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2a432669884de0" /><Relationship Type="http://schemas.openxmlformats.org/officeDocument/2006/relationships/notesMaster" Target="/ppt/notesMasters/notesMaster1.xml" Id="R1305f353f378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9567d125bd4bbb" /><Relationship Type="http://schemas.openxmlformats.org/officeDocument/2006/relationships/notesMaster" Target="/ppt/notesMasters/notesMaster1.xml" Id="R647a3f16d2bc41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d0dd9cc8a642b6" /><Relationship Type="http://schemas.openxmlformats.org/officeDocument/2006/relationships/notesMaster" Target="/ppt/notesMasters/notesMaster1.xml" Id="Rd663c2a382e349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8ce4918ff4468b" /><Relationship Type="http://schemas.openxmlformats.org/officeDocument/2006/relationships/notesMaster" Target="/ppt/notesMasters/notesMaster1.xml" Id="Rba29efcbda1c41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4972685b4f41e2" /><Relationship Type="http://schemas.openxmlformats.org/officeDocument/2006/relationships/notesMaster" Target="/ppt/notesMasters/notesMaster1.xml" Id="R7d1722100bc245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e4dc354e58486a" /><Relationship Type="http://schemas.openxmlformats.org/officeDocument/2006/relationships/notesMaster" Target="/ppt/notesMasters/notesMaster1.xml" Id="R8fa163f97e6243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d94bae6eb24e26" /><Relationship Type="http://schemas.openxmlformats.org/officeDocument/2006/relationships/notesMaster" Target="/ppt/notesMasters/notesMaster1.xml" Id="R686047262bac44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545b547fa74fe9" /><Relationship Type="http://schemas.openxmlformats.org/officeDocument/2006/relationships/notesMaster" Target="/ppt/notesMasters/notesMaster1.xml" Id="Rcfa692d148c545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f4dbf94e334334" /><Relationship Type="http://schemas.openxmlformats.org/officeDocument/2006/relationships/notesMaster" Target="/ppt/notesMasters/notesMaster1.xml" Id="Rd5b7224fc10d48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b856d8b14d4e8a" /><Relationship Type="http://schemas.openxmlformats.org/officeDocument/2006/relationships/notesMaster" Target="/ppt/notesMasters/notesMaster1.xml" Id="Rb3308ee0ac5840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a5dbbfafde4b46" /><Relationship Type="http://schemas.openxmlformats.org/officeDocument/2006/relationships/notesMaster" Target="/ppt/notesMasters/notesMaster1.xml" Id="R797c0d844f004c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5c53f7079e4f0f" /><Relationship Type="http://schemas.openxmlformats.org/officeDocument/2006/relationships/notesMaster" Target="/ppt/notesMasters/notesMaster1.xml" Id="R6fca3cc2597e46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366cd5daf24215" /><Relationship Type="http://schemas.openxmlformats.org/officeDocument/2006/relationships/notesMaster" Target="/ppt/notesMasters/notesMaster1.xml" Id="R2825e459a5d84a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5efd3676794dfd" /><Relationship Type="http://schemas.openxmlformats.org/officeDocument/2006/relationships/notesMaster" Target="/ppt/notesMasters/notesMaster1.xml" Id="R7689588868d642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a988c67ab44743" /><Relationship Type="http://schemas.openxmlformats.org/officeDocument/2006/relationships/notesMaster" Target="/ppt/notesMasters/notesMaster1.xml" Id="Rfd681dc05f4246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3d8b8e015c49fa" /><Relationship Type="http://schemas.openxmlformats.org/officeDocument/2006/relationships/notesMaster" Target="/ppt/notesMasters/notesMaster1.xml" Id="R8ecf17ddb3e344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7a6e4c246f4a4b" /><Relationship Type="http://schemas.openxmlformats.org/officeDocument/2006/relationships/notesMaster" Target="/ppt/notesMasters/notesMaster1.xml" Id="R73ebf2141c434e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fc804ddbea4a13" /><Relationship Type="http://schemas.openxmlformats.org/officeDocument/2006/relationships/notesMaster" Target="/ppt/notesMasters/notesMaster1.xml" Id="R993b62d73b3546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d52b92d8d54516" /><Relationship Type="http://schemas.openxmlformats.org/officeDocument/2006/relationships/notesMaster" Target="/ppt/notesMasters/notesMaster1.xml" Id="Rc05a9e70de8845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5b67f833aa4f5d" /><Relationship Type="http://schemas.openxmlformats.org/officeDocument/2006/relationships/notesMaster" Target="/ppt/notesMasters/notesMaster1.xml" Id="Rf571c8b8740a4f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c59ee650a944b4" /><Relationship Type="http://schemas.openxmlformats.org/officeDocument/2006/relationships/notesMaster" Target="/ppt/notesMasters/notesMaster1.xml" Id="R7c97bc9626b845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b21086005248c3" /><Relationship Type="http://schemas.openxmlformats.org/officeDocument/2006/relationships/notesMaster" Target="/ppt/notesMasters/notesMaster1.xml" Id="Re73be2f4c065409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53ea0503c4442e" /><Relationship Type="http://schemas.openxmlformats.org/officeDocument/2006/relationships/notesMaster" Target="/ppt/notesMasters/notesMaster1.xml" Id="Rceac50c2bb754f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013177f15b4038" /><Relationship Type="http://schemas.openxmlformats.org/officeDocument/2006/relationships/notesMaster" Target="/ppt/notesMasters/notesMaster1.xml" Id="R6935b472af1e4f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eab34faf03410e" /><Relationship Type="http://schemas.openxmlformats.org/officeDocument/2006/relationships/notesMaster" Target="/ppt/notesMasters/notesMaster1.xml" Id="Rfab63cf0ad504e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30569332ac44b35" /><Relationship Type="http://schemas.openxmlformats.org/officeDocument/2006/relationships/notesMaster" Target="/ppt/notesMasters/notesMaster1.xml" Id="Rca7ba951512848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7a743b9c894efc" /><Relationship Type="http://schemas.openxmlformats.org/officeDocument/2006/relationships/notesMaster" Target="/ppt/notesMasters/notesMaster1.xml" Id="R54896832149647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3d9e2b84ef0448b" /><Relationship Type="http://schemas.openxmlformats.org/officeDocument/2006/relationships/notesMaster" Target="/ppt/notesMasters/notesMaster1.xml" Id="Rc6ef3d856f654b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ad75f305a54da8" /><Relationship Type="http://schemas.openxmlformats.org/officeDocument/2006/relationships/notesMaster" Target="/ppt/notesMasters/notesMaster1.xml" Id="R7651eb7d498948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55741660a3f41df" /><Relationship Type="http://schemas.openxmlformats.org/officeDocument/2006/relationships/notesMaster" Target="/ppt/notesMasters/notesMaster1.xml" Id="R5137d6746b234ac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6af67baad442fc" /><Relationship Type="http://schemas.openxmlformats.org/officeDocument/2006/relationships/notesMaster" Target="/ppt/notesMasters/notesMaster1.xml" Id="R8401d03c6b55409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d2469ab0304d40" /><Relationship Type="http://schemas.openxmlformats.org/officeDocument/2006/relationships/notesMaster" Target="/ppt/notesMasters/notesMaster1.xml" Id="R7d7901e0142249f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977fef557dc4df9" /><Relationship Type="http://schemas.openxmlformats.org/officeDocument/2006/relationships/notesMaster" Target="/ppt/notesMasters/notesMaster1.xml" Id="R5e1e0fa8fdfe476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b620e2faaf84c3f" /><Relationship Type="http://schemas.openxmlformats.org/officeDocument/2006/relationships/notesMaster" Target="/ppt/notesMasters/notesMaster1.xml" Id="R4333639aa136473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9d6160a48c74df1" /><Relationship Type="http://schemas.openxmlformats.org/officeDocument/2006/relationships/notesMaster" Target="/ppt/notesMasters/notesMaster1.xml" Id="R52e3b4f683444b5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a9b06e2fd5e40ba" /><Relationship Type="http://schemas.openxmlformats.org/officeDocument/2006/relationships/notesMaster" Target="/ppt/notesMasters/notesMaster1.xml" Id="R3a505e6793b64f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659678162d0441c" /><Relationship Type="http://schemas.openxmlformats.org/officeDocument/2006/relationships/notesMaster" Target="/ppt/notesMasters/notesMaster1.xml" Id="R45314852950545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23b85b29c894895" /><Relationship Type="http://schemas.openxmlformats.org/officeDocument/2006/relationships/notesMaster" Target="/ppt/notesMasters/notesMaster1.xml" Id="R8a0d34b8d53f46a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4e01602544c4abe" /><Relationship Type="http://schemas.openxmlformats.org/officeDocument/2006/relationships/notesMaster" Target="/ppt/notesMasters/notesMaster1.xml" Id="Rbc797899886845c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5961294866946dc" /><Relationship Type="http://schemas.openxmlformats.org/officeDocument/2006/relationships/notesMaster" Target="/ppt/notesMasters/notesMaster1.xml" Id="R04cd171693d2426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81748e117e442f2" /><Relationship Type="http://schemas.openxmlformats.org/officeDocument/2006/relationships/notesMaster" Target="/ppt/notesMasters/notesMaster1.xml" Id="Recc971c67e23420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beec11fc9eb4f78" /><Relationship Type="http://schemas.openxmlformats.org/officeDocument/2006/relationships/notesMaster" Target="/ppt/notesMasters/notesMaster1.xml" Id="Ra89bf46bf0484f6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3adb554093a4350" /><Relationship Type="http://schemas.openxmlformats.org/officeDocument/2006/relationships/notesMaster" Target="/ppt/notesMasters/notesMaster1.xml" Id="R197fe924e60947f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576007cb0cd473d" /><Relationship Type="http://schemas.openxmlformats.org/officeDocument/2006/relationships/notesMaster" Target="/ppt/notesMasters/notesMaster1.xml" Id="Rebcce590f48c4a2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9d0b5ab0d8143ce" /><Relationship Type="http://schemas.openxmlformats.org/officeDocument/2006/relationships/notesMaster" Target="/ppt/notesMasters/notesMaster1.xml" Id="R92d457dc8eec429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cb0a0513a3d480f" /><Relationship Type="http://schemas.openxmlformats.org/officeDocument/2006/relationships/notesMaster" Target="/ppt/notesMasters/notesMaster1.xml" Id="R149544b2099d426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11b8dfd596b423f" /><Relationship Type="http://schemas.openxmlformats.org/officeDocument/2006/relationships/notesMaster" Target="/ppt/notesMasters/notesMaster1.xml" Id="R80a8ce5bf735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Presentasi alur penggunaan proyek. Nama akun, nominal dan kasus seluruhnya fiktif. Gunakan bagian utama untuk demonstrasi dan lampiran sebagai bahan tanya jawab.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11-patient-login.png</a:t>
            </a:r>
          </a:p>
          <a:p xmlns:a="http://schemas.openxmlformats.org/drawingml/2006/main">
            <a:r>
              <a:t>Pasien mendapat halaman masuk sendiri.</a:t>
            </a:r>
          </a:p>
          <a:p xmlns:a="http://schemas.openxmlformats.org/drawingml/2006/main">
            <a:r>
              <a:t>ID latihan: DEMO-P-001. Kata sandi: DemoNAM2026!</a:t>
            </a:r>
          </a:p>
          <a:p xmlns:a="http://schemas.openxmlformats.org/drawingml/2006/main">
            <a:r>
              <a:t>Tidak ada pilihan akun atau jabatan pegawai.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12-patient-home.png</a:t>
            </a:r>
          </a:p>
          <a:p xmlns:a="http://schemas.openxmlformats.org/drawingml/2006/main">
            <a:r>
              <a:t>Pasien melihat perkembangan pengerjaan dan kunjungan berikutnya.</a:t>
            </a:r>
          </a:p>
          <a:p xmlns:a="http://schemas.openxmlformats.org/drawingml/2006/main">
            <a:r>
              <a:t>Tanggal layanan tampil dari komitmen yang tercatat.</a:t>
            </a:r>
          </a:p>
          <a:p xmlns:a="http://schemas.openxmlformats.org/drawingml/2006/main">
            <a:r>
              <a:t>Data pasien lain dan pekerjaan divisi tidak ikut dimuat.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01-login.png</a:t>
            </a:r>
          </a:p>
          <a:p xmlns:a="http://schemas.openxmlformats.org/drawingml/2006/main">
            <a:r>
              <a:t>Pegawai menggunakan nama pengguna, tanpa daftar akun divisi di halaman masuk.</a:t>
            </a:r>
          </a:p>
          <a:p xmlns:a="http://schemas.openxmlformats.org/drawingml/2006/main">
            <a:r>
              <a:t>Contoh: resepsionis dengan sandi DemoNAM2026!</a:t>
            </a:r>
          </a:p>
          <a:p xmlns:a="http://schemas.openxmlformats.org/drawingml/2006/main">
            <a:r>
              <a:t>Hak akses ditentukan backend setelah login.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04-registration.png</a:t>
            </a:r>
          </a:p>
          <a:p xmlns:a="http://schemas.openxmlformats.org/drawingml/2006/main">
            <a:r>
              <a:t>Front Office mencatat identitas administratif dan pilihan komunikasi.</a:t>
            </a:r>
          </a:p>
          <a:p xmlns:a="http://schemas.openxmlformats.org/drawingml/2006/main">
            <a:r>
              <a:t>Status verifikasi kontak dan izin pada demo masih pernyataan simulasi.</a:t>
            </a:r>
          </a:p>
          <a:p xmlns:a="http://schemas.openxmlformats.org/drawingml/2006/main">
            <a:r>
              <a:t>Pasien asli belum boleh dimasukkan.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32-patient-schedule.png</a:t>
            </a:r>
          </a:p>
          <a:p xmlns:a="http://schemas.openxmlformats.org/drawingml/2006/main">
            <a:r>
              <a:t>Pasien membaca jadwal dan nama dokter yang melayaninya.</a:t>
            </a:r>
          </a:p>
          <a:p xmlns:a="http://schemas.openxmlformats.org/drawingml/2006/main">
            <a:r>
              <a:t>Dokter pengganti perlu respons Setujui atau Tolak dari pasien.</a:t>
            </a:r>
          </a:p>
          <a:p xmlns:a="http://schemas.openxmlformats.org/drawingml/2006/main">
            <a:r>
              <a:t>Waktu kunjungan ditampilkan dalam WIB.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05-order-form.png</a:t>
            </a:r>
          </a:p>
          <a:p xmlns:a="http://schemas.openxmlformats.org/drawingml/2006/main">
            <a:r>
              <a:t>Dokter menentukan jenis pekerjaan dan instruksi klinis.</a:t>
            </a:r>
          </a:p>
          <a:p xmlns:a="http://schemas.openxmlformats.org/drawingml/2006/main">
            <a:r>
              <a:t>Front Office mengatur administrasi tanpa mengubah diagnosis atau instruksi dokter.</a:t>
            </a:r>
          </a:p>
          <a:p xmlns:a="http://schemas.openxmlformats.org/drawingml/2006/main">
            <a:r>
              <a:t>Kasus presentasi memakai model latihan fiktif.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07-lab-accept.png</a:t>
            </a:r>
          </a:p>
          <a:p xmlns:a="http://schemas.openxmlformats.org/drawingml/2006/main">
            <a:r>
              <a:t>Front Office menunjuk penanggung jawab yang tersedia.</a:t>
            </a:r>
          </a:p>
          <a:p xmlns:a="http://schemas.openxmlformats.org/drawingml/2006/main">
            <a:r>
              <a:t>Penanggung jawab Lab menerima atau menolak pekerjaan dengan alasan.</a:t>
            </a:r>
          </a:p>
          <a:p xmlns:a="http://schemas.openxmlformats.org/drawingml/2006/main">
            <a:r>
              <a:t>Sesudah diterima, Lab bertanggung jawab atas komunikasi progres dan keterlambatan.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08-production-plan.png</a:t>
            </a:r>
          </a:p>
          <a:p xmlns:a="http://schemas.openxmlformats.org/drawingml/2006/main">
            <a:r>
              <a:t>Supervisor memilih teknisi dan memvalidasi estimasi.</a:t>
            </a:r>
          </a:p>
          <a:p xmlns:a="http://schemas.openxmlformats.org/drawingml/2006/main">
            <a:r>
              <a:t>Rekomendasi tanggal masih heuristik demo.</a:t>
            </a:r>
          </a:p>
          <a:p xmlns:a="http://schemas.openxmlformats.org/drawingml/2006/main">
            <a:r>
              <a:t>Estimasi lebih cepat memerlukan alasan yang tercatat.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10-technician.png</a:t>
            </a:r>
          </a:p>
          <a:p xmlns:a="http://schemas.openxmlformats.org/drawingml/2006/main">
            <a:r>
              <a:t>Teknisi hanya membuka pekerjaan yang ditugaskan kepadanya.</a:t>
            </a:r>
          </a:p>
          <a:p xmlns:a="http://schemas.openxmlformats.org/drawingml/2006/main">
            <a:r>
              <a:t>Tahap kerja mencakup desain, produksi, finishing dan antrean QC.</a:t>
            </a:r>
          </a:p>
          <a:p xmlns:a="http://schemas.openxmlformats.org/drawingml/2006/main">
            <a:r>
              <a:t>Perpindahan status mengikuti aturan backend.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17-qc-form.png</a:t>
            </a:r>
          </a:p>
          <a:p xmlns:a="http://schemas.openxmlformats.org/drawingml/2006/main">
            <a:r>
              <a:t>QC menentukan hasil pemeriksaan teknis.</a:t>
            </a:r>
          </a:p>
          <a:p xmlns:a="http://schemas.openxmlformats.org/drawingml/2006/main">
            <a:r>
              <a:t>Hasil yang belum sesuai wajib mempunyai alasan perbaikan.</a:t>
            </a:r>
          </a:p>
          <a:p xmlns:a="http://schemas.openxmlformats.org/drawingml/2006/main">
            <a:r>
              <a:t>Teknisi memperbaiki hasil, lalu mengajukannya ke QC kembali.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Riwayat kasus LAB-5D12623376 menampilkan usulan 28 ke 30 Oktober 2026 dan respons pasien. Membaca pesan tidak mengubah komitmen.</a:t>
            </a:r>
          </a:p>
          <a:p xmlns:a="http://schemas.openxmlformats.org/drawingml/2006/main">
            <a:r>
              <a:t>Contoh: komitmen 28 Oktober diusulkan menjadi 30 Oktober 2026.</a:t>
            </a:r>
          </a:p>
          <a:p xmlns:a="http://schemas.openxmlformats.org/drawingml/2006/main">
            <a:r>
              <a:t>Tanggal semula dan usulan tetap dapat ditelusuri.</a:t>
            </a:r>
          </a:p>
          <a:p xmlns:a="http://schemas.openxmlformats.org/drawingml/2006/main">
            <a:r>
              <a:t>Komitmen berubah setelah pasien memberi persetujuan eksplisit.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33-patient-ready.png</a:t>
            </a:r>
          </a:p>
          <a:p xmlns:a="http://schemas.openxmlformats.org/drawingml/2006/main">
            <a:r>
              <a:t>Setelah lulus QC, portal pasien menunjukkan siap diserahkan.</a:t>
            </a:r>
          </a:p>
          <a:p xmlns:a="http://schemas.openxmlformats.org/drawingml/2006/main">
            <a:r>
              <a:t>Petugas membantu mengatur penyerahan atau kunjungan lanjutan.</a:t>
            </a:r>
          </a:p>
          <a:p xmlns:a="http://schemas.openxmlformats.org/drawingml/2006/main">
            <a:r>
              <a:t>Status ini belum membuktikan hasil telah diterima atau tindakan klinis selesai.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34-partner.png</a:t>
            </a:r>
          </a:p>
          <a:p xmlns:a="http://schemas.openxmlformats.org/drawingml/2006/main">
            <a:r>
              <a:t>Mitra membuka order dari organisasinya sendiri.</a:t>
            </a:r>
          </a:p>
          <a:p xmlns:a="http://schemas.openxmlformats.org/drawingml/2006/main">
            <a:r>
              <a:t>Klinik mitra menjadi penerima utama komunikasi kasus eksternal.</a:t>
            </a:r>
          </a:p>
          <a:p xmlns:a="http://schemas.openxmlformats.org/drawingml/2006/main">
            <a:r>
              <a:t>Kontak langsung pasien eksternal belum diaktifkan.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18-payment-pending.png</a:t>
            </a:r>
          </a:p>
          <a:p xmlns:a="http://schemas.openxmlformats.org/drawingml/2006/main">
            <a:r>
              <a:t>Contoh kasus: penerimaan QRIS Rp750.000 dicatat Front Office.</a:t>
            </a:r>
          </a:p>
          <a:p xmlns:a="http://schemas.openxmlformats.org/drawingml/2006/main">
            <a:r>
              <a:t>Dana masih menunggu pemeriksaan dan belum mengurangi sisa tagihan sebagai pembayaran terverifikasi.</a:t>
            </a:r>
          </a:p>
          <a:p xmlns:a="http://schemas.openxmlformats.org/drawingml/2006/main">
            <a:r>
              <a:t>Bukti gambar tidak otomatis berarti pembayaran berhasil.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22-fat-check.png</a:t>
            </a:r>
          </a:p>
          <a:p xmlns:a="http://schemas.openxmlformats.org/drawingml/2006/main">
            <a:r>
              <a:t>FAT memeriksa penerimaan yang dicatat petugas lain.</a:t>
            </a:r>
          </a:p>
          <a:p xmlns:a="http://schemas.openxmlformats.org/drawingml/2006/main">
            <a:r>
              <a:t>Resepsionis tidak boleh memverifikasi penerimaannya sendiri.</a:t>
            </a:r>
          </a:p>
          <a:p xmlns:a="http://schemas.openxmlformats.org/drawingml/2006/main">
            <a:r>
              <a:t>Seluruh verifikasi di sini masih simulasi manual.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23-payment-verified.png</a:t>
            </a:r>
          </a:p>
          <a:p xmlns:a="http://schemas.openxmlformats.org/drawingml/2006/main">
            <a:r>
              <a:t>Pada kasus latihan, Rp750.000 tercatat terverifikasi setelah FAT memeriksa.</a:t>
            </a:r>
          </a:p>
          <a:p xmlns:a="http://schemas.openxmlformats.org/drawingml/2006/main">
            <a:r>
              <a:t>Riwayat penerimaan tetap disimpan.</a:t>
            </a:r>
          </a:p>
          <a:p xmlns:a="http://schemas.openxmlformats.org/drawingml/2006/main">
            <a:r>
              <a:t>Bank, gateway dan settlement nyata belum terhubung.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19-patient-assistant.png</a:t>
            </a:r>
          </a:p>
          <a:p xmlns:a="http://schemas.openxmlformats.org/drawingml/2006/main">
            <a:r>
              <a:t>Pasien memulai percakapan dengan konteks layanannya.</a:t>
            </a:r>
          </a:p>
          <a:p xmlns:a="http://schemas.openxmlformats.org/drawingml/2006/main">
            <a:r>
              <a:t>Asisten membantu informasi status dan jadwal.</a:t>
            </a:r>
          </a:p>
          <a:p xmlns:a="http://schemas.openxmlformats.org/drawingml/2006/main">
            <a:r>
              <a:t>Jawaban demo masih simulasi lokal berbasis aturan, belum model AI eksternal.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20-patient-waiting.png</a:t>
            </a:r>
          </a:p>
          <a:p xmlns:a="http://schemas.openxmlformats.org/drawingml/2006/main">
            <a:r>
              <a:t>Tombol Hubungi petugas memindahkan percakapan ke antrean.</a:t>
            </a:r>
          </a:p>
          <a:p xmlns:a="http://schemas.openxmlformats.org/drawingml/2006/main">
            <a:r>
              <a:t>Asisten berhenti membalas sesudah pengalihan.</a:t>
            </a:r>
          </a:p>
          <a:p xmlns:a="http://schemas.openxmlformats.org/drawingml/2006/main">
            <a:r>
              <a:t>Pasien tetap dapat menambahkan pesan sambil menunggu.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24-cs-queue.png</a:t>
            </a:r>
          </a:p>
          <a:p xmlns:a="http://schemas.openxmlformats.org/drawingml/2006/main">
            <a:r>
              <a:t>Antrean menampilkan informasi perutean sebelum percakapan diambil.</a:t>
            </a:r>
          </a:p>
          <a:p xmlns:a="http://schemas.openxmlformats.org/drawingml/2006/main">
            <a:r>
              <a:t>Satu petugas mengambil percakapan secara atomik.</a:t>
            </a:r>
          </a:p>
          <a:p xmlns:a="http://schemas.openxmlformats.org/drawingml/2006/main">
            <a:r>
              <a:t>Pegawai lain dan mitra tidak dapat memulai chat personal.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26-patient-human.png</a:t>
            </a:r>
          </a:p>
          <a:p xmlns:a="http://schemas.openxmlformats.org/drawingml/2006/main">
            <a:r>
              <a:t>Pasien menerima balasan langsung dari petugas yang menangani.</a:t>
            </a:r>
          </a:p>
          <a:p xmlns:a="http://schemas.openxmlformats.org/drawingml/2006/main">
            <a:r>
              <a:t>Riwayat asisten dan pesan sebelumnya tetap tersedia.</a:t>
            </a:r>
          </a:p>
          <a:p xmlns:a="http://schemas.openxmlformats.org/drawingml/2006/main">
            <a:r>
              <a:t>Percakapan yang selesai ditutup tanpa menghapus riwayat.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13-training.png</a:t>
            </a:r>
          </a:p>
          <a:p xmlns:a="http://schemas.openxmlformats.org/drawingml/2006/main">
            <a:r>
              <a:t>Pegawai mendapat materi sesuai peran pelaksana pada SOP.</a:t>
            </a:r>
          </a:p>
          <a:p xmlns:a="http://schemas.openxmlformats.org/drawingml/2006/main">
            <a:r>
              <a:t>Pengenalan divisi lain membantu memahami pembagian pekerjaan.</a:t>
            </a:r>
          </a:p>
          <a:p xmlns:a="http://schemas.openxmlformats.org/drawingml/2006/main">
            <a:r>
              <a:t>Materi tidak membuka data pasien atau mengubah kewenangan akun.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14-training-lesson.png</a:t>
            </a:r>
          </a:p>
          <a:p xmlns:a="http://schemas.openxmlformats.org/drawingml/2006/main">
            <a:r>
              <a:t>Setiap materi menjelaskan tujuan, waktu pelaksanaan dan urutan pemeriksaan.</a:t>
            </a:r>
          </a:p>
          <a:p xmlns:a="http://schemas.openxmlformats.org/drawingml/2006/main">
            <a:r>
              <a:t>Pegawai mempelajari contoh bukti dan latihan penyusunan laporan.</a:t>
            </a:r>
          </a:p>
          <a:p xmlns:a="http://schemas.openxmlformats.org/drawingml/2006/main">
            <a:r>
              <a:t>Membaca materi belum berarti lulus pelatihan.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Bagan pengguna adalah referensi draf. Beberapa label dan garis yang kurang terbaca tetap perlu konfirmasi pemilik organisasi. Daftar jabatan lengkap ada di lampiran presentasi.</a:t>
            </a:r>
          </a:p>
          <a:p xmlns:a="http://schemas.openxmlformats.org/drawingml/2006/main">
            <a:r>
              <a:t>Struktur memuat 31 jabatan mengikuti bagan yang diberikan.</a:t>
            </a:r>
          </a:p>
          <a:p xmlns:a="http://schemas.openxmlformats.org/drawingml/2006/main">
            <a:r>
              <a:t>Posisi kosong ditulis Belum diisi. Nama pribadi tidak ditebak.</a:t>
            </a:r>
          </a:p>
          <a:p xmlns:a="http://schemas.openxmlformats.org/drawingml/2006/main">
            <a:r>
              <a:t>Hubungan pelaporan tidak otomatis menambah izin aplikasi.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28-sop-checklist.png</a:t>
            </a:r>
          </a:p>
          <a:p xmlns:a="http://schemas.openxmlformats.org/drawingml/2006/main">
            <a:r>
              <a:t>32 draf SOP memuat 192 item pemeriksaan.</a:t>
            </a:r>
          </a:p>
          <a:p xmlns:a="http://schemas.openxmlformats.org/drawingml/2006/main">
            <a:r>
              <a:t>Pilihan hasil: sesuai, ada temuan, atau tidak relevan jika diizinkan dan diberi alasan.</a:t>
            </a:r>
          </a:p>
          <a:p xmlns:a="http://schemas.openxmlformats.org/drawingml/2006/main">
            <a:r>
              <a:t>Temuan memerlukan uraian, tindakan, penanggung jawab dan tenggat.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29-sop-evidence.png</a:t>
            </a:r>
          </a:p>
          <a:p xmlns:a="http://schemas.openxmlformats.org/drawingml/2006/main">
            <a:r>
              <a:t>Lampiran dikaitkan dengan item checklist.</a:t>
            </a:r>
          </a:p>
          <a:p xmlns:a="http://schemas.openxmlformats.org/drawingml/2006/main">
            <a:r>
              <a:t>PDF, PNG, JPG atau TXT dibatasi 3 MB per berkas dan 8 berkas aktif.</a:t>
            </a:r>
          </a:p>
          <a:p xmlns:a="http://schemas.openxmlformats.org/drawingml/2006/main">
            <a:r>
              <a:t>Bukti hanya dapat diunduh oleh akun yang berwenang.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27-sop-reports.png</a:t>
            </a:r>
          </a:p>
          <a:p xmlns:a="http://schemas.openxmlformats.org/drawingml/2006/main">
            <a:r>
              <a:t>Peninjau tidak boleh menjadi pembuat laporan yang sama.</a:t>
            </a:r>
          </a:p>
          <a:p xmlns:a="http://schemas.openxmlformats.org/drawingml/2006/main">
            <a:r>
              <a:t>Contoh IT-01 sudah ditinjau, tetapi uji restore masih tercatat sebagai tindak lanjut terbuka.</a:t>
            </a:r>
          </a:p>
          <a:p xmlns:a="http://schemas.openxmlformats.org/drawingml/2006/main">
            <a:r>
              <a:t>Status ditinjau tidak otomatis menutup temuan.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Tangkapan layar aplikasi lokal dengan data fiktif. 35-audit.png</a:t>
            </a:r>
          </a:p>
          <a:p xmlns:a="http://schemas.openxmlformats.org/drawingml/2006/main">
            <a:r>
              <a:t>Audit mencatat pelaku, waktu, objek dan alasan perubahan yang relevan.</a:t>
            </a:r>
          </a:p>
          <a:p xmlns:a="http://schemas.openxmlformats.org/drawingml/2006/main">
            <a:r>
              <a:t>Riwayat mencakup layanan, pembayaran, chat, laporan SOP dan pembukaan materi.</a:t>
            </a:r>
          </a:p>
          <a:p xmlns:a="http://schemas.openxmlformats.org/drawingml/2006/main">
            <a:r>
              <a:t>Log lokal belum mempunyai perlindungan tahan manipulasi untuk produksi.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Keterbatasan disampaikan berdasarkan perilaku yang benar-benar ada. Jangan memasukkan data pasien atau melakukan pembayaran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Penjelasan berdasarkan implementasi demo NAM DMS dan data fiktif. Materi belum disahkan untuk operasional nyata.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nama adalah tampilan akun demo, bukan nama pejabat atau personel nyata. Sandi seragam hanya untuk demo lokal. Pasien memakai /pasien. Klinik mitra adalah pihak eksternal dan tidak masuk struktur pegawai.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nama adalah tampilan akun demo, bukan nama pejabat atau personel nyata. Sandi seragam hanya untuk demo lokal. Pasien memakai /pasien. Klinik mitra adalah pihak eksternal dan tidak masuk struktur pegawai.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nama adalah tampilan akun demo, bukan nama pejabat atau personel nyata. Sandi seragam hanya untuk demo lokal. Pasien memakai /pasien. Klinik mitra adalah pihak eksternal dan tidak masuk struktur pegawai.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lengkap judul SOP. Setiap SOP mempunyai enam item, aturan bukti, peran pelaksana dan peninjau. Isi rinci tersedia dalam paket SOP dan aplikasi.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lengkap judul SOP. Setiap SOP mempunyai enam item, aturan bukti, peran pelaksana dan peninjau. Isi rinci tersedia dalam paket SOP dan aplikasi.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lengkap judul SOP. Setiap SOP mempunyai enam item, aturan bukti, peran pelaksana dan peninjau. Isi rinci tersedia dalam paket SOP dan aplikasi.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lengkap judul SOP. Setiap SOP mempunyai enam item, aturan bukti, peran pelaksana dan peninjau. Isi rinci tersedia dalam paket SOP dan aplikasi.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 dari bagan pengguna. Kolom peran adalah pemetaan izin aplikasi yang kompatibel, bukan daftar nama personel. Label atau hubungan yang ambigu masih memerlukan konfirmasi pemilik organisasi.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 dari bagan pengguna. Kolom peran adalah pemetaan izin aplikasi yang kompatibel, bukan daftar nama personel. Label atau hubungan yang ambigu masih memerlukan konfirmasi pemilik organisasi.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 dari bagan pengguna. Kolom peran adalah pemetaan izin aplikasi yang kompatibel, bukan daftar nama personel. Label atau hubungan yang ambigu masih memerlukan konfirmasi pemilik organisasi.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 dari bagan pengguna. Kolom peran adalah pemetaan izin aplikasi yang kompatibel, bukan daftar nama personel. Label atau hubungan yang ambigu masih memerlukan konfirmasi pemilik organisasi.</a:t>
            </a:r>
          </a:p>
          <a:p xmlns:a="http://schemas.openxmlformats.org/drawingml/2006/main">
            <a:r>
              <a:t>Sumber lokal: docs/WORKSPACE_DEMO_0.4.md, docs/WORKSPACE_DEMO_0.3.md, backend/modules, backend/sop_catalog.py, backend/organization_catalog.py. Pemeriksaan 20 Oktober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2d0e8a59249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9a775475248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fc6d130fd4a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5d7a075c846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e6ea8b0894b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c89e38fd440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3604C0-5274-4E32-AE75-D94228C1A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425D55-431F-4804-84B4-67995A2CB2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70EAF9-6479-4A89-A799-ECACAB01B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ED90EE-56A4-4F68-A885-56B5401755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318780-F2DC-411C-ADDD-6E57DCAC20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9B9B71-863D-4CE7-894F-7EE2DFD80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B8F943-8F18-4E2A-A465-E44DBD2884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206DA8-0752-42C5-8EB2-08B8F59BC9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50A283-22E0-4939-865D-96B7CB172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AF87C0-EDD0-40FB-85FF-4FD8F75B5D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ec04faf6744498" /><Relationship Type="http://schemas.openxmlformats.org/officeDocument/2006/relationships/slideLayout" Target="/ppt/slideLayouts/slideLayout1.xml" Id="R1d492fa04f58467f" /><Relationship Type="http://schemas.openxmlformats.org/officeDocument/2006/relationships/slideLayout" Target="/ppt/slideLayouts/slideLayout2.xml" Id="Rad52f1c7bab844ab" /><Relationship Type="http://schemas.openxmlformats.org/officeDocument/2006/relationships/slideLayout" Target="/ppt/slideLayouts/slideLayout3.xml" Id="Rfed6855dad8e42f6" /><Relationship Type="http://schemas.openxmlformats.org/officeDocument/2006/relationships/slideLayout" Target="/ppt/slideLayouts/slideLayout4.xml" Id="R099119cd7aeb4de5" /><Relationship Type="http://schemas.openxmlformats.org/officeDocument/2006/relationships/slideLayout" Target="/ppt/slideLayouts/slideLayout5.xml" Id="Rdfebe85b84c34e11" /><Relationship Type="http://schemas.openxmlformats.org/officeDocument/2006/relationships/slideLayout" Target="/ppt/slideLayouts/slideLayout6.xml" Id="Rc1c2e8914c734a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92fa04f58467f"/>
    <p:sldLayoutId xmlns:r="http://schemas.openxmlformats.org/officeDocument/2006/relationships" id="2147483650" r:id="Rad52f1c7bab844ab"/>
    <p:sldLayoutId xmlns:r="http://schemas.openxmlformats.org/officeDocument/2006/relationships" id="2147483651" r:id="Rfed6855dad8e42f6"/>
    <p:sldLayoutId xmlns:r="http://schemas.openxmlformats.org/officeDocument/2006/relationships" id="2147483652" r:id="R099119cd7aeb4de5"/>
    <p:sldLayoutId xmlns:r="http://schemas.openxmlformats.org/officeDocument/2006/relationships" id="2147483653" r:id="Rdfebe85b84c34e11"/>
    <p:sldLayoutId xmlns:r="http://schemas.openxmlformats.org/officeDocument/2006/relationships" id="2147483654" r:id="Rc1c2e8914c734a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6e08c053e4c0a" /><Relationship Type="http://schemas.openxmlformats.org/officeDocument/2006/relationships/image" Target="/ppt/media/image.png" Id="R89280d1f01454346" /><Relationship Type="http://schemas.openxmlformats.org/officeDocument/2006/relationships/notesSlide" Target="/ppt/notesSlides/notesSlide1.xml" Id="R15c881efe98145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34a46b4484809" /><Relationship Type="http://schemas.openxmlformats.org/officeDocument/2006/relationships/notesSlide" Target="/ppt/notesSlides/notesSlide2.xml" Id="R1c87e8985fa94e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7a982b5954f29" /><Relationship Type="http://schemas.openxmlformats.org/officeDocument/2006/relationships/notesSlide" Target="/ppt/notesSlides/notesSlide3.xml" Id="R33dbdd0fab1a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b2e5ae8e043ed" /><Relationship Type="http://schemas.openxmlformats.org/officeDocument/2006/relationships/image" Target="/ppt/media/image.jpeg" Id="Rb04cd9becfbe442f" /><Relationship Type="http://schemas.openxmlformats.org/officeDocument/2006/relationships/notesSlide" Target="/ppt/notesSlides/notesSlide4.xml" Id="R987ef923b17f45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08f1cb616420f" /><Relationship Type="http://schemas.openxmlformats.org/officeDocument/2006/relationships/image" Target="/ppt/media/image2.jpeg" Id="R317c6a7746a4475e" /><Relationship Type="http://schemas.openxmlformats.org/officeDocument/2006/relationships/notesSlide" Target="/ppt/notesSlides/notesSlide5.xml" Id="R980b0258782b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8d5fd0549465d" /><Relationship Type="http://schemas.openxmlformats.org/officeDocument/2006/relationships/image" Target="/ppt/media/image3.jpeg" Id="Re4a2201b66534399" /><Relationship Type="http://schemas.openxmlformats.org/officeDocument/2006/relationships/notesSlide" Target="/ppt/notesSlides/notesSlide6.xml" Id="R4fc6e37b151446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e335ae6a8497b" /><Relationship Type="http://schemas.openxmlformats.org/officeDocument/2006/relationships/notesSlide" Target="/ppt/notesSlides/notesSlide7.xml" Id="Rc07e719ed98c4a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3dc08a5b04ed5" /><Relationship Type="http://schemas.openxmlformats.org/officeDocument/2006/relationships/image" Target="/ppt/media/image4.jpeg" Id="Rea37989e63e9463d" /><Relationship Type="http://schemas.openxmlformats.org/officeDocument/2006/relationships/notesSlide" Target="/ppt/notesSlides/notesSlide8.xml" Id="R3fb2706a88aa40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7a1c888844270" /><Relationship Type="http://schemas.openxmlformats.org/officeDocument/2006/relationships/image" Target="/ppt/media/image5.jpeg" Id="R245efab348ce46d9" /><Relationship Type="http://schemas.openxmlformats.org/officeDocument/2006/relationships/notesSlide" Target="/ppt/notesSlides/notesSlide9.xml" Id="Rd43732af42444e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41cfb32ee4614" /><Relationship Type="http://schemas.openxmlformats.org/officeDocument/2006/relationships/image" Target="/ppt/media/image6.jpeg" Id="R9ad81efebdc44ffd" /><Relationship Type="http://schemas.openxmlformats.org/officeDocument/2006/relationships/notesSlide" Target="/ppt/notesSlides/notesSlide10.xml" Id="R0b700e1bb7b54c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70be83c554ac9" /><Relationship Type="http://schemas.openxmlformats.org/officeDocument/2006/relationships/image" Target="/ppt/media/image7.jpeg" Id="R0fd1852d085f48f9" /><Relationship Type="http://schemas.openxmlformats.org/officeDocument/2006/relationships/notesSlide" Target="/ppt/notesSlides/notesSlide11.xml" Id="R00a4a49a4cf547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43e4dca70463e" /><Relationship Type="http://schemas.openxmlformats.org/officeDocument/2006/relationships/image" Target="/ppt/media/image8.jpeg" Id="R3103b93c9e064925" /><Relationship Type="http://schemas.openxmlformats.org/officeDocument/2006/relationships/notesSlide" Target="/ppt/notesSlides/notesSlide12.xml" Id="R0dac1df2da234d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ce84031324259" /><Relationship Type="http://schemas.openxmlformats.org/officeDocument/2006/relationships/image" Target="/ppt/media/image9.jpeg" Id="R80fc05353fdf4d4b" /><Relationship Type="http://schemas.openxmlformats.org/officeDocument/2006/relationships/notesSlide" Target="/ppt/notesSlides/notesSlide13.xml" Id="R159851da6dd94d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4a7396cda47d6" /><Relationship Type="http://schemas.openxmlformats.org/officeDocument/2006/relationships/image" Target="/ppt/media/image10.jpeg" Id="Rfb82fabd6b2543e1" /><Relationship Type="http://schemas.openxmlformats.org/officeDocument/2006/relationships/notesSlide" Target="/ppt/notesSlides/notesSlide14.xml" Id="R12a06083b38540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1d812291c4c09" /><Relationship Type="http://schemas.openxmlformats.org/officeDocument/2006/relationships/image" Target="/ppt/media/image11.jpeg" Id="Ref702dff8b56479a" /><Relationship Type="http://schemas.openxmlformats.org/officeDocument/2006/relationships/notesSlide" Target="/ppt/notesSlides/notesSlide15.xml" Id="Reaa84cf5d2b348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6987268e54e76" /><Relationship Type="http://schemas.openxmlformats.org/officeDocument/2006/relationships/image" Target="/ppt/media/image12.jpeg" Id="Rafeefaf39abb43f8" /><Relationship Type="http://schemas.openxmlformats.org/officeDocument/2006/relationships/notesSlide" Target="/ppt/notesSlides/notesSlide16.xml" Id="Ra66e0539a1b848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bb793c3f14d3d" /><Relationship Type="http://schemas.openxmlformats.org/officeDocument/2006/relationships/image" Target="/ppt/media/image13.jpeg" Id="Ra31edeab23a24ab8" /><Relationship Type="http://schemas.openxmlformats.org/officeDocument/2006/relationships/notesSlide" Target="/ppt/notesSlides/notesSlide17.xml" Id="Ra1f1fcb271e241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dcd2e8a964936" /><Relationship Type="http://schemas.openxmlformats.org/officeDocument/2006/relationships/notesSlide" Target="/ppt/notesSlides/notesSlide18.xml" Id="R067610c92e0e42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938b9b2f343a8" /><Relationship Type="http://schemas.openxmlformats.org/officeDocument/2006/relationships/image" Target="/ppt/media/image14.jpeg" Id="R2adbd3aeda344efb" /><Relationship Type="http://schemas.openxmlformats.org/officeDocument/2006/relationships/notesSlide" Target="/ppt/notesSlides/notesSlide19.xml" Id="R24fa348a3f7943a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3800cf41b4c1b" /><Relationship Type="http://schemas.openxmlformats.org/officeDocument/2006/relationships/image" Target="/ppt/media/image15.jpeg" Id="R426e7fb866b440da" /><Relationship Type="http://schemas.openxmlformats.org/officeDocument/2006/relationships/notesSlide" Target="/ppt/notesSlides/notesSlide20.xml" Id="R2cd99d04138042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ca0c678984613" /><Relationship Type="http://schemas.openxmlformats.org/officeDocument/2006/relationships/image" Target="/ppt/media/image16.jpeg" Id="Rd1dae8fb4cd3405b" /><Relationship Type="http://schemas.openxmlformats.org/officeDocument/2006/relationships/notesSlide" Target="/ppt/notesSlides/notesSlide21.xml" Id="R943d1c07df454f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be8b5133e444d" /><Relationship Type="http://schemas.openxmlformats.org/officeDocument/2006/relationships/image" Target="/ppt/media/image17.jpeg" Id="R4f9f731064d84c56" /><Relationship Type="http://schemas.openxmlformats.org/officeDocument/2006/relationships/notesSlide" Target="/ppt/notesSlides/notesSlide22.xml" Id="R210792d93ae748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9eee74c50496c" /><Relationship Type="http://schemas.openxmlformats.org/officeDocument/2006/relationships/image" Target="/ppt/media/image18.jpeg" Id="R76487ee2d6964be4" /><Relationship Type="http://schemas.openxmlformats.org/officeDocument/2006/relationships/notesSlide" Target="/ppt/notesSlides/notesSlide23.xml" Id="R901a0df1a75c4a5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c1041140842ae" /><Relationship Type="http://schemas.openxmlformats.org/officeDocument/2006/relationships/image" Target="/ppt/media/image19.jpeg" Id="Rbbeeb3971b28430d" /><Relationship Type="http://schemas.openxmlformats.org/officeDocument/2006/relationships/notesSlide" Target="/ppt/notesSlides/notesSlide24.xml" Id="R25681ff317514ba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101055c7246b6" /><Relationship Type="http://schemas.openxmlformats.org/officeDocument/2006/relationships/image" Target="/ppt/media/image20.jpeg" Id="R97bf32ad00ce4819" /><Relationship Type="http://schemas.openxmlformats.org/officeDocument/2006/relationships/notesSlide" Target="/ppt/notesSlides/notesSlide25.xml" Id="R1d1ca263478742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7bea3f4de4c1f" /><Relationship Type="http://schemas.openxmlformats.org/officeDocument/2006/relationships/image" Target="/ppt/media/image21.jpeg" Id="R500b4682e7f246d2" /><Relationship Type="http://schemas.openxmlformats.org/officeDocument/2006/relationships/notesSlide" Target="/ppt/notesSlides/notesSlide26.xml" Id="Ra48d7640d12249c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b27b8d5814097" /><Relationship Type="http://schemas.openxmlformats.org/officeDocument/2006/relationships/image" Target="/ppt/media/image22.jpeg" Id="Rcb4ccc6994a04b93" /><Relationship Type="http://schemas.openxmlformats.org/officeDocument/2006/relationships/notesSlide" Target="/ppt/notesSlides/notesSlide27.xml" Id="Ra5630e3dd10a4c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a487499264970" /><Relationship Type="http://schemas.openxmlformats.org/officeDocument/2006/relationships/image" Target="/ppt/media/image23.jpeg" Id="R840f7a5fbfa14bbf" /><Relationship Type="http://schemas.openxmlformats.org/officeDocument/2006/relationships/notesSlide" Target="/ppt/notesSlides/notesSlide28.xml" Id="R9665b3ae63054df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efb375a1b47f9" /><Relationship Type="http://schemas.openxmlformats.org/officeDocument/2006/relationships/notesSlide" Target="/ppt/notesSlides/notesSlide29.xml" Id="R9c4cb14d9a2b4b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69fa7e0d0d4006" /><Relationship Type="http://schemas.openxmlformats.org/officeDocument/2006/relationships/image" Target="/ppt/media/image24.jpeg" Id="R4b09518ca57b4fa4" /><Relationship Type="http://schemas.openxmlformats.org/officeDocument/2006/relationships/notesSlide" Target="/ppt/notesSlides/notesSlide30.xml" Id="Rc2fd616d5a11451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9de9e3bf449cd" /><Relationship Type="http://schemas.openxmlformats.org/officeDocument/2006/relationships/image" Target="/ppt/media/image25.jpeg" Id="R545e4b9f52aa4464" /><Relationship Type="http://schemas.openxmlformats.org/officeDocument/2006/relationships/notesSlide" Target="/ppt/notesSlides/notesSlide31.xml" Id="Re27420ff6dee44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dca3d56754e81" /><Relationship Type="http://schemas.openxmlformats.org/officeDocument/2006/relationships/image" Target="/ppt/media/image26.jpeg" Id="R6fe80bf3396c48cc" /><Relationship Type="http://schemas.openxmlformats.org/officeDocument/2006/relationships/notesSlide" Target="/ppt/notesSlides/notesSlide32.xml" Id="R9158e6cc600541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1e19c47bc47ed" /><Relationship Type="http://schemas.openxmlformats.org/officeDocument/2006/relationships/notesSlide" Target="/ppt/notesSlides/notesSlide33.xml" Id="Rf1a87fe0a66848b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24229a62f4fbc" /><Relationship Type="http://schemas.openxmlformats.org/officeDocument/2006/relationships/image" Target="/ppt/media/image27.jpeg" Id="Red3e7863e9f84e4c" /><Relationship Type="http://schemas.openxmlformats.org/officeDocument/2006/relationships/notesSlide" Target="/ppt/notesSlides/notesSlide34.xml" Id="Rfcf3b6f5111641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e773f9ce54bfd" /><Relationship Type="http://schemas.openxmlformats.org/officeDocument/2006/relationships/notesSlide" Target="/ppt/notesSlides/notesSlide35.xml" Id="R5549398119d947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6b88fbc854ba4" /><Relationship Type="http://schemas.openxmlformats.org/officeDocument/2006/relationships/notesSlide" Target="/ppt/notesSlides/notesSlide36.xml" Id="Rec9b26ac86b14d9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508824a644c43" /><Relationship Type="http://schemas.openxmlformats.org/officeDocument/2006/relationships/notesSlide" Target="/ppt/notesSlides/notesSlide37.xml" Id="R8598638aa92744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dc5261e904cb8" /><Relationship Type="http://schemas.openxmlformats.org/officeDocument/2006/relationships/notesSlide" Target="/ppt/notesSlides/notesSlide38.xml" Id="Rccf76cdc1eab416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d0e9c19614a96" /><Relationship Type="http://schemas.openxmlformats.org/officeDocument/2006/relationships/notesSlide" Target="/ppt/notesSlides/notesSlide39.xml" Id="R28fa7dd32022496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36dce45824a3d" /><Relationship Type="http://schemas.openxmlformats.org/officeDocument/2006/relationships/notesSlide" Target="/ppt/notesSlides/notesSlide40.xml" Id="R8f3cf59b12cf4a2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3e41bdc5ae4195" /><Relationship Type="http://schemas.openxmlformats.org/officeDocument/2006/relationships/notesSlide" Target="/ppt/notesSlides/notesSlide41.xml" Id="Rea6f69de8e2f41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318d0c82d44ba" /><Relationship Type="http://schemas.openxmlformats.org/officeDocument/2006/relationships/notesSlide" Target="/ppt/notesSlides/notesSlide42.xml" Id="Rf02a52254c3147b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41ac623024f74" /><Relationship Type="http://schemas.openxmlformats.org/officeDocument/2006/relationships/notesSlide" Target="/ppt/notesSlides/notesSlide43.xml" Id="R98deef388ca34c6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04f15e7a14671" /><Relationship Type="http://schemas.openxmlformats.org/officeDocument/2006/relationships/notesSlide" Target="/ppt/notesSlides/notesSlide44.xml" Id="R46cd36017087475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f3024b07e4360" /><Relationship Type="http://schemas.openxmlformats.org/officeDocument/2006/relationships/notesSlide" Target="/ppt/notesSlides/notesSlide45.xml" Id="Rcd14fdc8404a427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405193f294bd9" /><Relationship Type="http://schemas.openxmlformats.org/officeDocument/2006/relationships/notesSlide" Target="/ppt/notesSlides/notesSlide46.xml" Id="R028b5618f1664d4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07f430bc14efc" /><Relationship Type="http://schemas.openxmlformats.org/officeDocument/2006/relationships/notesSlide" Target="/ppt/notesSlides/notesSlide47.xml" Id="R2a90ca216e90459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eba5271c44a41" /><Relationship Type="http://schemas.openxmlformats.org/officeDocument/2006/relationships/notesSlide" Target="/ppt/notesSlides/notesSlide48.xml" Id="R35eb7d7330e545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4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B746D45-C4A6-4D67-835F-031239C7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5D0BD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7D873B5-7D80-47FD-B85B-5BF3225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7C69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F0F5DF-7182-495B-A74A-BED70989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9C595"/>
                </a:solidFill>
                <a:latin typeface="Segoe UI"/>
                <a:ea typeface="Segoe UI"/>
                <a:cs typeface="Segoe UI"/>
              </a:rPr>
              <a:t>NARAYA AURENTIS MONOLITHIC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CD699F-F0C7-4E1F-8DDA-E0D69A4F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7524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defPPr>
            <a:lvl1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1pPr>
            <a:lvl2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2pPr>
            <a:lvl3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3pPr>
            <a:lvl4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4pPr>
            <a:lvl5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5pPr>
            <a:lvl6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6pPr>
            <a:lvl7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7pPr>
            <a:lvl8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8pPr>
            <a:lvl9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CF9EF"/>
                </a:solidFill>
                <a:latin typeface="Segoe UI"/>
                <a:ea typeface="Segoe UI"/>
                <a:cs typeface="Segoe UI"/>
              </a:rPr>
              <a:t>Manajemen Klinik</a:t>
            </a:r>
          </a:p>
          <a:p xmlns:a="http://schemas.openxmlformats.org/drawingml/2006/main">
            <a:pPr>
              <a:defRPr sz="45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CF9EF"/>
                </a:solidFill>
                <a:latin typeface="Segoe UI"/>
                <a:ea typeface="Segoe UI"/>
                <a:cs typeface="Segoe UI"/>
              </a:rPr>
              <a:t>dan Laboratorium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636869-A608-4F75-AC39-65FF0BAF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1DCCB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D1DCCB"/>
                </a:solidFill>
                <a:latin typeface="Segoe UI"/>
                <a:ea typeface="Segoe UI"/>
                <a:cs typeface="Segoe UI"/>
              </a:rPr>
              <a:t>Alur layanan, pembagian tugas, dan pelaporan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2BA487-86F0-4C00-8F6F-7E7BBC58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C5D0BD"/>
                </a:solidFill>
                <a:latin typeface="Segoe UI"/>
                <a:ea typeface="Segoe UI"/>
                <a:cs typeface="Segoe UI"/>
              </a:rPr>
              <a:t>20 Oktober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76B49-9AC3-41EE-A184-BFC6D8D39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80d1f01454346"/>
          <a:stretch xmlns:a="http://schemas.openxmlformats.org/drawingml/2006/main"/>
        </p:blipFill>
        <p:spPr>
          <a:xfrm xmlns:a="http://schemas.openxmlformats.org/drawingml/2006/main">
            <a:off x="8458200" y="2430963"/>
            <a:ext cx="3095625" cy="166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5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646CC8A-A40F-4DA4-8370-3EFB42A1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Ruang lingkup proyek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0802A1-F070-4ED7-A5C9-CA0D1210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1339A5-18F3-4E0C-B50F-B0C9874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1AB026-86EC-43C9-B95F-FBD2AB1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23463C"/>
                </a:solidFill>
                <a:latin typeface="Segoe UI"/>
                <a:ea typeface="Segoe UI"/>
                <a:cs typeface="Segoe UI"/>
              </a:rPr>
              <a:t>Satu proses layanan, dengan pintu masuk dan kewenangan yang berbeda.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653A7-A103-4301-B893-150C8D0F0384}"/>
              </a:ext>
            </a:extLst>
          </p:cNvPr>
          <p:cNvGraphicFramePr/>
          <p:nvPr/>
        </p:nvGraphicFramePr>
        <p:xfrm>
          <a:off xmlns:a="http://schemas.openxmlformats.org/drawingml/2006/main" x="609600" y="2762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686800"/>
              </a:tblGrid>
              <a:tr h="5635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YANG SUDAH DAPAT DICOBA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5635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Registrasi, kunjungan, dokter pengganti dan surat kerja.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635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Laboratorium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Penerimaan, teknisi, estimasi, QC dan perbaikan hasil.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635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Pasien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Portal khusus, persetujuan layanan dan bantuan petugas.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635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Pegawai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divisi, checklist SOP, lampiran dan peninjauan.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63563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Keuangan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Biaya internal, invoice mitra dan verifikasi demo terpisah.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349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E48E728-58CB-4C6E-B09B-FB0F31CD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Portal pasien dan ruang pegawai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EDBAFFB-1F50-49FC-A3FE-ED6A4EC3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2A7284-0C26-408F-B0BB-74894E1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CEF8B-52C3-4FAC-B936-31F1C4ACB2F2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4410075"/>
                <a:gridCol w="4419600"/>
              </a:tblGrid>
              <a:tr h="6826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PEMBEDA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PORTAL PASIEN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RUANG PEGAWAI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6826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Alamat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/pasien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/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826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Masuk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ID pasien dan kata sandi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Nama pengguna dan kata sandi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6826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Isi utama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Layanan dan jadwal milik sendiri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Pekerjaan sesuai peran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826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Bantuan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Asisten, lalu petugas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divisi dan SOP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6826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Informasi internal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Tidak ditampilkan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Struktur dan laporan sesuai akses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7533F17-CE3C-4743-8D9A-85B2DCD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Sesi dan API dipisahkan di backend. Kotak masuk pasien hanya tersedia bagi petugas CS.</a:t>
            </a:r>
          </a:p>
        </p:txBody>
      </p:sp>
    </p:spTree>
    <p:extLst>
      <p:ext uri="{BB962C8B-B14F-4D97-AF65-F5344CB8AC3E}">
        <p14:creationId xmlns:p14="http://schemas.microsoft.com/office/powerpoint/2010/main" val="1529871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93096F7-1A95-459F-9138-4EF6CCCF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Masuk ke portal pasien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B4ECC9-2EB0-4482-9CE1-6B2221DA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C17D9A-3C68-4162-AB86-28381A15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A578A1-00B5-4A65-AAE4-570D5377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mendapat halaman masuk sendiri.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7D4348-8EDA-45FE-AF74-5887571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ID latihan: DEMO-P-001. Kata sandi: DemoNAM2026!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C48833A-BDD4-48C4-A200-6042C87F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Tidak ada pilihan akun atau jabatan pegawai.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A891D-1CB4-48A2-8B95-9FB214D19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cd9becfbe442f"/>
          <a:stretch xmlns:a="http://schemas.openxmlformats.org/drawingml/2006/main"/>
        </p:blipFill>
        <p:spPr>
          <a:xfrm xmlns:a="http://schemas.openxmlformats.org/drawingml/2006/main">
            <a:off x="5970428" y="1495425"/>
            <a:ext cx="408019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95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A0B188C-0C01-4CD8-9711-71FF4191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Beranda pasien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D8C7B1E-2EFA-49B8-A1D6-92CE12E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3A4D5F-F25A-476B-89CB-04B6EAB9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E3686F-DFE1-4A86-B6FC-DCEB6FC4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melihat perkembangan pengerjaan dan kunjungan berikutnya.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5DC2E3A-BD90-4665-8CD6-BC11653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Tanggal layanan tampil dari komitmen yang tercatat.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C066C55-9125-44B4-B9DD-0E380941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Data pasien lain dan pekerjaan divisi tidak ikut dimuat.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9D45E-8CB3-495D-AA9C-E22E1DDAC9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c6a7746a4475e"/>
          <a:stretch xmlns:a="http://schemas.openxmlformats.org/drawingml/2006/main"/>
        </p:blipFill>
        <p:spPr>
          <a:xfrm xmlns:a="http://schemas.openxmlformats.org/drawingml/2006/main">
            <a:off x="5970428" y="1495425"/>
            <a:ext cx="408019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7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3069C18-8811-4E56-B73F-5333E327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Masuk ke ruang kerja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73C60F-9201-43E8-88F4-FE6C84D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A6A0EA-0B5A-4A65-A781-54865A5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2319A4-7ED4-4F35-9787-4BF58DBC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Pegawai menggunakan nama pengguna, tanpa daftar akun divisi di halaman masuk.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19559E4-EBA2-4F0F-9664-8C52ED5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Contoh: resepsionis dengan sandi DemoNAM2026!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2178B29-4320-44AE-8C4C-0D2F3E0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Hak akses ditentukan backend setelah login.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48F60-3966-4232-801C-ABC45B2AC7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2201b66534399"/>
          <a:stretch xmlns:a="http://schemas.openxmlformats.org/drawingml/2006/main"/>
        </p:blipFill>
        <p:spPr>
          <a:xfrm xmlns:a="http://schemas.openxmlformats.org/drawingml/2006/main">
            <a:off x="4438650" y="1867495"/>
            <a:ext cx="7143750" cy="40183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78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CDA2C-769A-433E-A4BF-B283B3A331DB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800350" y="43815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ADF3C-0E4D-491E-97FA-88B6734ADFA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000750" y="43815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B0EC3-7A3E-46FA-B6C3-0C4AE0262B3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105775" y="30003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791B8-8666-4E65-AA8D-D6D2A285B1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00750" y="24765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8FB09-7444-44F4-B4F2-CB7221AD180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00350" y="24765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1AE0717A-D0C8-41C8-A203-E15292D6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Alur layanan internal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1556A85-1C79-4365-ABE6-7D655266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50BCFCB-55AC-4578-922C-C1496FB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Registrasi dan&#10;kunjungan">
            <a:extLst xmlns:a="http://schemas.openxmlformats.org/drawingml/2006/main">
              <a:ext uri="{FF2B5EF4-FFF2-40B4-BE49-F238E27FC236}">
                <a16:creationId xmlns:a16="http://schemas.microsoft.com/office/drawing/2014/main" id="{ED399F12-0B48-4B52-8071-27C6546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Registrasi dan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kunjungan</a:t>
            </a:r>
          </a:p>
        </p:txBody>
      </p:sp>
      <p:sp>
        <p:nvSpPr>
          <p:cNvPr id="5" name="Surat kerja&#10;dokter">
            <a:extLst xmlns:a="http://schemas.openxmlformats.org/drawingml/2006/main">
              <a:ext uri="{FF2B5EF4-FFF2-40B4-BE49-F238E27FC236}">
                <a16:creationId xmlns:a16="http://schemas.microsoft.com/office/drawing/2014/main" id="{14571F90-246D-4250-ACC3-89584CF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Surat kerja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dokter</a:t>
            </a:r>
          </a:p>
        </p:txBody>
      </p:sp>
      <p:sp>
        <p:nvSpPr>
          <p:cNvPr id="6" name="Penerimaan&#10;pekerjaan">
            <a:extLst xmlns:a="http://schemas.openxmlformats.org/drawingml/2006/main">
              <a:ext uri="{FF2B5EF4-FFF2-40B4-BE49-F238E27FC236}">
                <a16:creationId xmlns:a16="http://schemas.microsoft.com/office/drawing/2014/main" id="{18862898-5573-4DF8-A67E-5A40C07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Penerimaan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pekerjaan</a:t>
            </a:r>
          </a:p>
        </p:txBody>
      </p:sp>
      <p:sp>
        <p:nvSpPr>
          <p:cNvPr id="9" name="Produksi dan&#10;pembaruan progres">
            <a:extLst xmlns:a="http://schemas.openxmlformats.org/drawingml/2006/main">
              <a:ext uri="{FF2B5EF4-FFF2-40B4-BE49-F238E27FC236}">
                <a16:creationId xmlns:a16="http://schemas.microsoft.com/office/drawing/2014/main" id="{6369A83E-35CF-494A-947D-FC25FF0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57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Produksi dan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pembaruan progres</a:t>
            </a:r>
          </a:p>
        </p:txBody>
      </p:sp>
      <p:sp>
        <p:nvSpPr>
          <p:cNvPr id="10" name="Pemeriksaan&#10;hasil QC">
            <a:extLst xmlns:a="http://schemas.openxmlformats.org/drawingml/2006/main">
              <a:ext uri="{FF2B5EF4-FFF2-40B4-BE49-F238E27FC236}">
                <a16:creationId xmlns:a16="http://schemas.microsoft.com/office/drawing/2014/main" id="{DBEBE957-3525-4C02-9579-6DAC226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Pemeriksaan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hasil QC</a:t>
            </a:r>
          </a:p>
        </p:txBody>
      </p:sp>
      <p:sp>
        <p:nvSpPr>
          <p:cNvPr id="11" name="Siap&#10;diserahkan">
            <a:extLst xmlns:a="http://schemas.openxmlformats.org/drawingml/2006/main">
              <a:ext uri="{FF2B5EF4-FFF2-40B4-BE49-F238E27FC236}">
                <a16:creationId xmlns:a16="http://schemas.microsoft.com/office/drawing/2014/main" id="{AFA57B86-5C17-4E5A-88EC-733AED3C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Siap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diserahkan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4F37ACF-135F-4C8E-AEA1-6989F7E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Jika hasil belum sesuai, QC mencatat alasan dan mengembalikan pekerjaan untuk diperbaiki.</a:t>
            </a:r>
          </a:p>
        </p:txBody>
      </p:sp>
    </p:spTree>
    <p:extLst>
      <p:ext uri="{BB962C8B-B14F-4D97-AF65-F5344CB8AC3E}">
        <p14:creationId xmlns:p14="http://schemas.microsoft.com/office/powerpoint/2010/main" val="2088124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1278576-54FE-4AED-BD79-BC0E46A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Registrasi pasien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5266047-C6B1-4910-99FA-80AB102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1E1ACA-84D3-446D-9F13-099D618D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093283-52D2-4B51-AF7A-91AF74FA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Front Office mencatat identitas administratif dan pilihan komunikasi.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378868-391A-4593-8F1F-CEC7CCC5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Status verifikasi kontak dan izin pada demo masih pernyataan simulasi.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B59EC65-F6C7-4579-8EA1-8639E4C6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62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asli belum boleh dimasukkan.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4800D-FF75-43A9-B5EF-EC7301EF6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7989e63e9463d"/>
          <a:srcRect xmlns:a="http://schemas.openxmlformats.org/drawingml/2006/main" l="24000" t="16000" r="24000" b="16000"/>
          <a:stretch xmlns:a="http://schemas.openxmlformats.org/drawingml/2006/main"/>
        </p:blipFill>
        <p:spPr>
          <a:xfrm xmlns:a="http://schemas.openxmlformats.org/drawingml/2006/main">
            <a:off x="5388349" y="1495425"/>
            <a:ext cx="524435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69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B4C357D-0029-4B1E-9BE2-298D7D3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Jadwal kunjungan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D21850-A7ED-4EE9-B6D9-4C71DCA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7CA50B-A9B5-4C62-9402-19B596C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E225A-792F-4C20-9373-68C9BB7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membaca jadwal dan nama dokter yang melayaninya.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B712388-40DF-412C-85EB-0929C36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Dokter pengganti perlu respons Setujui atau Tolak dari pasien.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8ED43A2-08D1-4F7D-9E3E-5C1C75F1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Waktu kunjungan ditampilkan dalam WIB.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8AB3A-8F05-4CB9-A413-D6D70B37B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efab348ce46d9"/>
          <a:stretch xmlns:a="http://schemas.openxmlformats.org/drawingml/2006/main"/>
        </p:blipFill>
        <p:spPr>
          <a:xfrm xmlns:a="http://schemas.openxmlformats.org/drawingml/2006/main">
            <a:off x="4438650" y="1866260"/>
            <a:ext cx="7143750" cy="40208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07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915B008-2F14-407F-857A-02EF863B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Surat kerja dokter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5D7374-B8B5-40FF-9AEA-5FC9A0F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BA558F-693F-4C2D-949C-CF2BA66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0505CC-02D6-410A-8019-32ECDAAE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Dokter menentukan jenis pekerjaan dan instruksi klinis.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D951CB4-4CD4-4385-82FD-BB2C21AC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Front Office mengatur administrasi tanpa mengubah diagnosis atau instruksi dokter.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ACEF33-2643-4D5E-911B-F548D77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Kasus presentasi memakai model latihan fiktif.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DFC62-E63A-4423-AB24-8E1B99C9A8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81efebdc44ffd"/>
          <a:srcRect xmlns:a="http://schemas.openxmlformats.org/drawingml/2006/main" l="24000" t="16000" r="24000" b="16000"/>
          <a:stretch xmlns:a="http://schemas.openxmlformats.org/drawingml/2006/main"/>
        </p:blipFill>
        <p:spPr>
          <a:xfrm xmlns:a="http://schemas.openxmlformats.org/drawingml/2006/main">
            <a:off x="5388349" y="1495425"/>
            <a:ext cx="524435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4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4E42232C-31A1-49D7-8CF1-24B5E24F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Penerimaan pekerjaan Lab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728702-BE47-43DA-8C97-89FA62AE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C2CD06-9E62-4288-8D13-9BD41290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5A17734-0117-4F03-BD4B-5621823F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Front Office menunjuk penanggung jawab yang tersedia.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2DC0D58-5D4C-4F73-B653-48DCB01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Penanggung jawab Lab menerima atau menolak pekerjaan dengan alasan.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46CE71D-56E9-46AB-AC0A-4D8877C8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Sesudah diterima, Lab bertanggung jawab atas komunikasi progres dan keterlambatan.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0F941-E495-4832-8F5D-C1E3F3C0FC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1852d085f48f9"/>
          <a:srcRect xmlns:a="http://schemas.openxmlformats.org/drawingml/2006/main" l="24000" t="16000" r="24000" b="16000"/>
          <a:stretch xmlns:a="http://schemas.openxmlformats.org/drawingml/2006/main"/>
        </p:blipFill>
        <p:spPr>
          <a:xfrm xmlns:a="http://schemas.openxmlformats.org/drawingml/2006/main">
            <a:off x="5388349" y="1495425"/>
            <a:ext cx="524435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76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ED75577-5990-4370-8705-F3AD4E9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Rencana produksi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5FB3FA2-1195-4194-8206-55AB13A0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AEADAE4-F4C2-4760-BACA-FDA4DE3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497815D-15EE-4188-96BF-072FB211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Supervisor memilih teknisi dan memvalidasi estimasi.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F21F15-2BF5-447C-95FF-32348C18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Rekomendasi tanggal masih heuristik demo.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0AF450-0B9F-462C-ACD6-61501622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Estimasi lebih cepat memerlukan alasan yang tercatat.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86B77-8B40-499C-B725-B63E21F6D6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3b93c9e064925"/>
          <a:srcRect xmlns:a="http://schemas.openxmlformats.org/drawingml/2006/main" l="24000" t="16000" r="24000" b="16000"/>
          <a:stretch xmlns:a="http://schemas.openxmlformats.org/drawingml/2006/main"/>
        </p:blipFill>
        <p:spPr>
          <a:xfrm xmlns:a="http://schemas.openxmlformats.org/drawingml/2006/main">
            <a:off x="5388349" y="1495425"/>
            <a:ext cx="524435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921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787ADAE-DE83-4D8C-9EB1-DC63E821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Pembaruan oleh teknisi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458117-0C4A-4EAB-BA4E-0908C69F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C22809-9617-422E-91A9-FFEED3F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67A1B5-E16B-4491-B5B2-14C0978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Teknisi hanya membuka pekerjaan yang ditugaskan kepadanya.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23B56F9-D4B1-48B5-9221-E9714415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Tahap kerja mencakup desain, produksi, finishing dan antrean QC.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57F0D0B-087C-4586-BCAE-CBCF6F4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Perpindahan status mengikuti aturan backend.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DE588-BBE3-4D69-8C4A-EA418DA7DA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c05353fdf4d4b"/>
          <a:stretch xmlns:a="http://schemas.openxmlformats.org/drawingml/2006/main"/>
        </p:blipFill>
        <p:spPr>
          <a:xfrm xmlns:a="http://schemas.openxmlformats.org/drawingml/2006/main">
            <a:off x="4438650" y="2106487"/>
            <a:ext cx="7143750" cy="35403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871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1738E14-F8C1-4FA4-B864-2E1493A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Pemeriksaan hasil dan rework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73C6F2-A5E1-4098-B149-77D5355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542194-D3BE-4B87-9A10-9AD7EE7F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01D0FC5-F337-4E66-9CB1-294D06D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QC menentukan hasil pemeriksaan teknis.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A60993-FE57-453A-8E31-6B596FA4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Hasil yang belum sesuai wajib mempunyai alasan perbaikan.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4514D2-D479-4EAA-BFB2-F971DCC5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Teknisi memperbaiki hasil, lalu mengajukannya ke QC kembali.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56A53-D814-4D0E-AE4A-2ED94D57B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2fabd6b2543e1"/>
          <a:srcRect xmlns:a="http://schemas.openxmlformats.org/drawingml/2006/main" l="24000" t="16000" r="24000" b="16000"/>
          <a:stretch xmlns:a="http://schemas.openxmlformats.org/drawingml/2006/main"/>
        </p:blipFill>
        <p:spPr>
          <a:xfrm xmlns:a="http://schemas.openxmlformats.org/drawingml/2006/main">
            <a:off x="5388349" y="1495425"/>
            <a:ext cx="524435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223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198FDB4-AAFA-4803-B711-E67EAE19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Perubahan tanggal layanan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F7535C1-1360-4150-86C1-CABEE43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4E62E77-FB33-4BBF-B692-BB56421C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B25C5E-C4B8-4DDB-90F2-1FA62397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Contoh: komitmen 28 Oktober diusulkan menjadi 30 Oktober 2026.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12ADFD-AD81-430F-92A5-E846EC8E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Tanggal semula dan usulan tetap dapat ditelusuri.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8C58C47-FF29-4886-8F6C-F4F4A1B9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Komitmen berubah setelah pasien memberi persetujuan eksplisit.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57911-B301-4D7E-9753-4541A0016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02dff8b56479a"/>
          <a:stretch xmlns:a="http://schemas.openxmlformats.org/drawingml/2006/main"/>
        </p:blipFill>
        <p:spPr>
          <a:xfrm xmlns:a="http://schemas.openxmlformats.org/drawingml/2006/main">
            <a:off x="4582968" y="1495425"/>
            <a:ext cx="685511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478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A10A8A3-FE34-46C7-81F0-4BC086F8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Hasil siap diserahkan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735792-91ED-4B7F-8EC8-B1BE7830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47B8B9-74BD-4AAC-B33E-0F08A8C9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8B1C2E4-2D3A-4FEA-80C3-BB68091A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Setelah lulus QC, portal pasien menunjukkan siap diserahkan.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1507E1E-4710-4D41-B03E-E0369F32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Petugas membantu mengatur penyerahan atau kunjungan lanjutan.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DE9151C-495A-4EB1-83F8-EA72408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62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Status ini belum membuktikan hasil telah diterima atau tindakan klinis selesai.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8E735-EBB2-49EA-BE19-1DFF226DFE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efaf39abb43f8"/>
          <a:stretch xmlns:a="http://schemas.openxmlformats.org/drawingml/2006/main"/>
        </p:blipFill>
        <p:spPr>
          <a:xfrm xmlns:a="http://schemas.openxmlformats.org/drawingml/2006/main">
            <a:off x="4438650" y="1866260"/>
            <a:ext cx="7143750" cy="40208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4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F26E5E47-F4FA-46D3-BFA1-49A32708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Layanan untuk klinik mitra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D9623A-56E4-40E3-8485-694CEAAF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D59F816-1C64-4923-B0BC-1A017E5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E36FD83-F41C-411B-A72A-CE8A9EF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Mitra membuka order dari organisasinya sendiri.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B113C85-656C-4FED-A793-03AB5037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Klinik mitra menjadi penerima utama komunikasi kasus eksternal.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8639852-0152-4483-BEDA-DDF4800B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Kontak langsung pasien eksternal belum diaktifkan.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572CF-DD32-4F50-BD9D-EF87AE5D9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deab23a24ab8"/>
          <a:srcRect xmlns:a="http://schemas.openxmlformats.org/drawingml/2006/main" l="19000" t="14000" r="2000" b="7000"/>
          <a:stretch xmlns:a="http://schemas.openxmlformats.org/drawingml/2006/main"/>
        </p:blipFill>
        <p:spPr>
          <a:xfrm xmlns:a="http://schemas.openxmlformats.org/drawingml/2006/main">
            <a:off x="4438650" y="1866260"/>
            <a:ext cx="7143750" cy="40208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198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70F8CF7-37BD-4211-84F2-FAAA5594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Jenis pencatatan keuangan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8F30619-AEEB-4984-A1E7-8EB783C5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9557B12-784D-419A-B5CF-43EAC45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10EF4-1B2F-4402-A0A9-13DC441B582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2667000"/>
                <a:gridCol w="5638800"/>
              </a:tblGrid>
              <a:tr h="857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SUMBER ORDER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JENIS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PEMAKAIAN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857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 internal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Biaya internal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Pencatatan biaya layanan internal.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857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 mitra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Invoice mitra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Tagihan untuk organisasi mitra.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0756BB5-BDA4-4DB8-AEE8-47F8D48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23463C"/>
                </a:solidFill>
                <a:latin typeface="Segoe UI"/>
                <a:ea typeface="Segoe UI"/>
                <a:cs typeface="Segoe UI"/>
              </a:rPr>
              <a:t>Biaya internal tidak boleh dihitung kembali sebagai omzet eksternal.</a:t>
            </a:r>
          </a:p>
        </p:txBody>
      </p:sp>
    </p:spTree>
    <p:extLst>
      <p:ext uri="{BB962C8B-B14F-4D97-AF65-F5344CB8AC3E}">
        <p14:creationId xmlns:p14="http://schemas.microsoft.com/office/powerpoint/2010/main" val="9312102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2A9547B-E9DA-4A95-994E-7709CFD5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Penerimaan sebelum verifikasi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0891EC-F437-45CA-BE78-ED414AAC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BC6C7B-CB07-4F63-B213-A52A7C33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0C81E6-7818-495D-B429-7FAA3A2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Contoh kasus: penerimaan QRIS Rp750.000 dicatat Front Office.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6631-3BE3-4D8C-96C1-0BEA86148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bd3aeda344efb"/>
          <a:stretch xmlns:a="http://schemas.openxmlformats.org/drawingml/2006/main"/>
        </p:blipFill>
        <p:spPr>
          <a:xfrm xmlns:a="http://schemas.openxmlformats.org/drawingml/2006/main">
            <a:off x="2568343" y="2228850"/>
            <a:ext cx="7055314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594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59A899E-7AF1-4FD5-B119-272A4F6D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Pemeriksaan oleh FAT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E278B8-7B77-4B97-8E9F-CF140C15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76B3EF-00AC-4F68-A8F2-2EBD092F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C9D996-B2A5-46A2-9A5E-F3D15629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FAT memeriksa penerimaan yang dicatat petugas lain.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F1C505-CB46-42DD-AEEC-B613721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Resepsionis tidak boleh memverifikasi penerimaannya sendiri.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CA71CE-0406-452D-8997-65B15CA3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Seluruh verifikasi di sini masih simulasi manual.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0BCD-577C-4F1D-A3E5-5125CDFF13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e7fb866b440da"/>
          <a:srcRect xmlns:a="http://schemas.openxmlformats.org/drawingml/2006/main" l="24000" t="16000" r="24000" b="16000"/>
          <a:stretch xmlns:a="http://schemas.openxmlformats.org/drawingml/2006/main"/>
        </p:blipFill>
        <p:spPr>
          <a:xfrm xmlns:a="http://schemas.openxmlformats.org/drawingml/2006/main">
            <a:off x="5388349" y="1495425"/>
            <a:ext cx="5244353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358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EC9FA97-A1B3-4CE2-BF42-DA90C4A1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Hasil pencatatan pembayaran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D3E380-CFBB-454D-97FE-68F9C95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CA56E3A-3477-4998-A80A-916FAFEC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E5E565-3523-4FF8-9BFD-71A3C5D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Pada kasus latihan, Rp750.000 tercatat terverifikasi setelah FAT memeriksa.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E688A-0041-4ECA-AAB2-41C9385CA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ae8fb4cd3405b"/>
          <a:stretch xmlns:a="http://schemas.openxmlformats.org/drawingml/2006/main"/>
        </p:blipFill>
        <p:spPr>
          <a:xfrm xmlns:a="http://schemas.openxmlformats.org/drawingml/2006/main">
            <a:off x="2568343" y="2228850"/>
            <a:ext cx="7055314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248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C821399-DBEE-4954-8378-53CCADE1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Bantuan khusus pasien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9B5A27-D266-4A5F-B528-AF5D042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0E35C0-C4C6-4FB6-8AD1-491EA6BA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A5593E-F952-4F97-914E-474C890A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memulai percakapan dengan konteks layanannya.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433DB84-CC8B-4C98-A15A-6F68DFA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Asisten membantu informasi status dan jadwal.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27BFCC-7A34-4749-B800-F14A865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Jawaban demo masih simulasi lokal berbasis aturan, belum model AI eksternal.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AE213-2413-44D7-929A-CEB3E8C5E0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f731064d84c56"/>
          <a:stretch xmlns:a="http://schemas.openxmlformats.org/drawingml/2006/main"/>
        </p:blipFill>
        <p:spPr>
          <a:xfrm xmlns:a="http://schemas.openxmlformats.org/drawingml/2006/main">
            <a:off x="4582968" y="1495425"/>
            <a:ext cx="685511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00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43822CB3-2566-4D25-A56B-D708D499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Pasien meminta petugas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83108E0-AE4F-4289-8796-D1A0273B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60F659-9944-424B-9B7E-3EB2E00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0F6BEEB-9E36-44ED-A2AE-8BAA4CF5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Tombol Hubungi petugas memindahkan percakapan ke antrean.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9F3CC5-6DC7-4499-A084-5206AE4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Asisten berhenti membalas sesudah pengalihan.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13C950C-C89D-48C0-8A39-7FA951FC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tetap dapat menambahkan pesan sambil menunggu.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919EF-2A20-446D-B8F7-376C7544B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87ee2d6964be4"/>
          <a:stretch xmlns:a="http://schemas.openxmlformats.org/drawingml/2006/main"/>
        </p:blipFill>
        <p:spPr>
          <a:xfrm xmlns:a="http://schemas.openxmlformats.org/drawingml/2006/main">
            <a:off x="4582968" y="1495425"/>
            <a:ext cx="685511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88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B0B3299-22A3-4DED-8BEE-0AADC0C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Kotak masuk petugas CS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AA0063D-FAC0-4144-A82F-00BAD12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BF4B83-A217-49D9-BA45-2FD4A42A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3F0964-3398-4D3D-97D2-26DEC28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Antrean menampilkan informasi perutean sebelum percakapan diambil.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6692F-49FD-451A-A8EF-8D3BAF0475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eb3971b28430d"/>
          <a:stretch xmlns:a="http://schemas.openxmlformats.org/drawingml/2006/main"/>
        </p:blipFill>
        <p:spPr>
          <a:xfrm xmlns:a="http://schemas.openxmlformats.org/drawingml/2006/main">
            <a:off x="2425638" y="2228850"/>
            <a:ext cx="7340723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81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4977CFD-B86C-4246-903A-D62E8E47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Balasan manusia dan penutupan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A1591C-01EE-4126-8924-02252EEC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94C951-697C-4777-8A4F-8995C1F3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9F122C-5A74-4ADD-905F-FFF9CDD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Pasien menerima balasan langsung dari petugas yang menangani.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50A517-7576-4BCC-80DB-4B25F72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Riwayat asisten dan pesan sebelumnya tetap tersedia.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28AA81-2E69-4946-B0FF-C18D39C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Percakapan yang selesai ditutup tanpa menghapus riwayat.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903E8-E244-41D8-9481-30CBDBDD2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f32ad00ce4819"/>
          <a:stretch xmlns:a="http://schemas.openxmlformats.org/drawingml/2006/main"/>
        </p:blipFill>
        <p:spPr>
          <a:xfrm xmlns:a="http://schemas.openxmlformats.org/drawingml/2006/main">
            <a:off x="4582968" y="1495425"/>
            <a:ext cx="685511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403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5FB645B-335D-4BFF-87C1-1E3933B1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Materi untuk pegawai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1117935-2BF7-4CD0-A3C1-7A00E55D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EB34F5-536E-4B00-ACCB-C434ECB6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19A554-29A4-4302-91C3-96EDB986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Pegawai mendapat materi sesuai peran pelaksana pada SOP.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E670A28-8122-4E02-B7F9-6F82818F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Pengenalan divisi lain membantu memahami pembagian pekerjaan.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6AA8376-637F-4FA1-A163-36711C3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Materi tidak membuka data pasien atau mengubah kewenangan akun.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24C30-F730-48A8-A13A-3C1FCC628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b4682e7f246d2"/>
          <a:srcRect xmlns:a="http://schemas.openxmlformats.org/drawingml/2006/main" l="19000" t="14000" r="2000" b="7000"/>
          <a:stretch xmlns:a="http://schemas.openxmlformats.org/drawingml/2006/main"/>
        </p:blipFill>
        <p:spPr>
          <a:xfrm xmlns:a="http://schemas.openxmlformats.org/drawingml/2006/main">
            <a:off x="4582968" y="1495425"/>
            <a:ext cx="685511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886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AFE3696-3B31-48F9-8F79-6302F23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Isi materi divisi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B201EBF-061D-4846-8A77-D80C36A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24F9C69-B5C3-448E-B9AD-B5FCD73C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298AFF0-E94E-4688-8922-7DE7659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Setiap materi menjelaskan tujuan, waktu pelaksanaan dan urutan pemeriksaan.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226592-3ADE-4A7D-A143-76CEE67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Pegawai mempelajari contoh bukti dan latihan penyusunan laporan.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671193E-E923-4C1A-86E5-09A116E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6263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Membaca materi belum berarti lulus pelatihan.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FF288-9307-4A25-9F03-2567F12BE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ccc6994a04b93"/>
          <a:stretch xmlns:a="http://schemas.openxmlformats.org/drawingml/2006/main"/>
        </p:blipFill>
        <p:spPr>
          <a:xfrm xmlns:a="http://schemas.openxmlformats.org/drawingml/2006/main">
            <a:off x="4810720" y="1495425"/>
            <a:ext cx="639960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263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4A90D5A-BD56-41A1-9ADD-8731F786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Draf struktur organisasi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93BB465-81A9-435C-BED8-33C08F75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97A56E-FD86-4295-A919-285E9F89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114C5F1-AEC4-44D1-8638-D09C97B3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Struktur memuat 31 jabatan mengikuti bagan yang diberikan.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46D643E-61A2-4CE8-8930-9884915D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Posisi kosong ditulis Belum diisi. Nama pribadi tidak ditebak.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2F07E6-6229-4A1E-BFB8-14DBAF4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Hubungan pelaporan tidak otomatis menambah izin aplikasi.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6CB5D-E362-4367-BCC6-CC54C6FBD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f7a5fbfa14bbf"/>
          <a:stretch xmlns:a="http://schemas.openxmlformats.org/drawingml/2006/main"/>
        </p:blipFill>
        <p:spPr>
          <a:xfrm xmlns:a="http://schemas.openxmlformats.org/drawingml/2006/main">
            <a:off x="4810720" y="1495425"/>
            <a:ext cx="639960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84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BB9B2-1722-4CF6-A3EF-7D9DA2A7969E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000750" y="45339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76245-BCC0-4374-94E3-B2E18FDAB5A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105775" y="314325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A91DB-9BEF-42AD-8ED3-1862A6399B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00750" y="26193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FDBDD-2C84-4AB0-973A-B9C9B591935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00350" y="261937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8C54"/>
            </a:solidFill>
            <a:prstDash val="solid"/>
            <a:tailEnd type="arrow" w="med" len="med"/>
          </a:ln>
        </p:spPr>
      </p:cxnSp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0E65043D-8928-485C-B3B5-9B9BD89A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Alur laporan SOP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B836405-F0D3-41E5-9C62-CEB2419F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D00FC0-503A-4439-ABBB-8606C35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4" name="Draf laporan">
            <a:extLst xmlns:a="http://schemas.openxmlformats.org/drawingml/2006/main">
              <a:ext uri="{FF2B5EF4-FFF2-40B4-BE49-F238E27FC236}">
                <a16:creationId xmlns:a16="http://schemas.microsoft.com/office/drawing/2014/main" id="{C6A80140-6B6F-48D0-9681-4CAF67F8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Draf laporan</a:t>
            </a:r>
          </a:p>
        </p:txBody>
      </p:sp>
      <p:sp>
        <p:nvSpPr>
          <p:cNvPr id="5" name="Checklist dan&#10;lampiran lengkap">
            <a:extLst xmlns:a="http://schemas.openxmlformats.org/drawingml/2006/main">
              <a:ext uri="{FF2B5EF4-FFF2-40B4-BE49-F238E27FC236}">
                <a16:creationId xmlns:a16="http://schemas.microsoft.com/office/drawing/2014/main" id="{BE325A24-22EC-4E83-9CC3-BC337A8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Checklist dan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lampiran lengkap</a:t>
            </a:r>
          </a:p>
        </p:txBody>
      </p:sp>
      <p:sp>
        <p:nvSpPr>
          <p:cNvPr id="6" name="Diajukan">
            <a:extLst xmlns:a="http://schemas.openxmlformats.org/drawingml/2006/main">
              <a:ext uri="{FF2B5EF4-FFF2-40B4-BE49-F238E27FC236}">
                <a16:creationId xmlns:a16="http://schemas.microsoft.com/office/drawing/2014/main" id="{7DD6E200-72DC-4D80-AC2A-B27D3A5A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Diajukan</a:t>
            </a:r>
          </a:p>
        </p:txBody>
      </p:sp>
      <p:sp>
        <p:nvSpPr>
          <p:cNvPr id="9" name="Peninjau berbeda&#10;yang berwenang">
            <a:extLst xmlns:a="http://schemas.openxmlformats.org/drawingml/2006/main">
              <a:ext uri="{FF2B5EF4-FFF2-40B4-BE49-F238E27FC236}">
                <a16:creationId xmlns:a16="http://schemas.microsoft.com/office/drawing/2014/main" id="{BD6E5F92-224D-4874-90E1-7C0E496C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100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Peninjau berbeda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yang berwenang</a:t>
            </a:r>
          </a:p>
        </p:txBody>
      </p:sp>
      <p:sp>
        <p:nvSpPr>
          <p:cNvPr id="10" name="Ditinjau atau&#10;perlu perbaikan">
            <a:extLst xmlns:a="http://schemas.openxmlformats.org/drawingml/2006/main">
              <a:ext uri="{FF2B5EF4-FFF2-40B4-BE49-F238E27FC236}">
                <a16:creationId xmlns:a16="http://schemas.microsoft.com/office/drawing/2014/main" id="{A7F64693-D80E-4501-A79D-E9685D1E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100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BCC"/>
            </a:solidFill>
          </a:ln>
        </p:spPr>
        <p:txBody>
          <a:bodyPr xmlns:a="http://schemas.openxmlformats.org/drawingml/2006/main" wrap="square" lIns="133350" tIns="133350" rIns="133350" bIns="133350" anchor="ctr"/>
          <a:lstStyle xmlns:a="http://schemas.openxmlformats.org/drawingml/2006/main">
            <a:def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Ditinjau atau</a:t>
            </a:r>
          </a:p>
          <a:p xmlns:a="http://schemas.openxmlformats.org/drawingml/2006/main">
            <a:pPr algn="ctr">
              <a:defRPr sz="1875" b="0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perlu perbaikan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45387028-D6FC-4002-A755-1C8C11B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Laporan dikembalikan ke pelaksana bila perlu perbaikan. Versi pengajuan lama tetap tersimpan.</a:t>
            </a:r>
          </a:p>
        </p:txBody>
      </p:sp>
    </p:spTree>
    <p:extLst>
      <p:ext uri="{BB962C8B-B14F-4D97-AF65-F5344CB8AC3E}">
        <p14:creationId xmlns:p14="http://schemas.microsoft.com/office/powerpoint/2010/main" val="10072322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AC06B6E-0B7F-4795-A904-4577F8F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Checklist dan tindak lanjut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B85CE0D-BC71-4FDF-95AF-06AA41A2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632E0C-3548-4F0B-91D9-187C2805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D75A107-F11E-4A18-B01E-E2F067C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32 draf SOP memuat 192 item pemeriksaan.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62410F1-28A5-4D71-B463-D9C6A9F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Pilihan hasil: sesuai, ada temuan, atau tidak relevan jika diizinkan dan diberi alasan.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2ADDDC-73F7-4517-83D6-EF808A2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Temuan memerlukan uraian, tindakan, penanggung jawab dan tenggat.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C2362-1FD9-4837-9112-0540755DC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9518ca57b4fa4"/>
          <a:srcRect xmlns:a="http://schemas.openxmlformats.org/drawingml/2006/main" l="13000" t="4000" r="13000" b="6000"/>
          <a:stretch xmlns:a="http://schemas.openxmlformats.org/drawingml/2006/main"/>
        </p:blipFill>
        <p:spPr>
          <a:xfrm xmlns:a="http://schemas.openxmlformats.org/drawingml/2006/main">
            <a:off x="5191125" y="1495425"/>
            <a:ext cx="56388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650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6CB90FF-256F-47EA-B03B-37B68B6B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Lampiran bukti per item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134807-24A6-484C-9189-AFFAA3AB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90B72EE-B58A-4909-8E7F-D50258E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184C146-4000-43D2-BB4C-68FA95BD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Lampiran dikaitkan dengan item checklist.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FE6761F-F831-47D7-83EA-81F8FD0C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79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PDF, PNG, JPG atau TXT dibatasi 3 MB per berkas dan 8 berkas aktif.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1D84283-564E-4399-AF4E-A9199D08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794"/>
            <a:ext cx="3495675" cy="757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Bukti hanya dapat diunduh oleh akun yang berwenang.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3196E-CA32-49FD-8E3D-7958DABCA4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e4b9f52aa4464"/>
          <a:srcRect xmlns:a="http://schemas.openxmlformats.org/drawingml/2006/main" l="13000" t="4000" r="13000" b="6000"/>
          <a:stretch xmlns:a="http://schemas.openxmlformats.org/drawingml/2006/main"/>
        </p:blipFill>
        <p:spPr>
          <a:xfrm xmlns:a="http://schemas.openxmlformats.org/drawingml/2006/main">
            <a:off x="5191125" y="1495425"/>
            <a:ext cx="56388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889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D2890CC-9884-4D91-94DF-99AD1D5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Peninjauan dan temuan terbuka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239C4FB-73DF-4B88-BDED-AB69A225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D27577-1A1D-4B53-B0E9-F464E05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8C4DBD-A855-453F-91FE-1B6628B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Peninjau tidak boleh menjadi pembuat laporan yang sama.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1EAB3-A1FE-47A0-96AB-D174E0F0F5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80bf3396c48cc"/>
          <a:stretch xmlns:a="http://schemas.openxmlformats.org/drawingml/2006/main"/>
        </p:blipFill>
        <p:spPr>
          <a:xfrm xmlns:a="http://schemas.openxmlformats.org/drawingml/2006/main">
            <a:off x="1350637" y="2228850"/>
            <a:ext cx="9490726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98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332EB26-FC3E-4BF9-B042-3F7D084C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Laporan dan lampiran untuk dibagikan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5B880F-1965-4C06-8640-476D0001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017A5D-AAE0-424C-8DAF-8712580F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45807-3357-4F16-BEAF-9F7D87BB7DE7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639050"/>
              </a:tblGrid>
              <a:tr h="7381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HASIL EKSPOR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ISI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7381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Versi cetak HTML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Ringkasan, checklist, temuan dan hasil peninjauan.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7381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Paket ZIP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Laporan, bukti aktif, bukti versi lama dan riwayat JSON.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7381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Paket draf SOP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32 template checklist dan empat format lampiran.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7A34662-A284-419A-83DA-C1F982C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Lampiran laporan memakai data fiktif. Simpan paket hasil ekspor sesuai kewenangan penerimanya.</a:t>
            </a:r>
          </a:p>
        </p:txBody>
      </p:sp>
    </p:spTree>
    <p:extLst>
      <p:ext uri="{BB962C8B-B14F-4D97-AF65-F5344CB8AC3E}">
        <p14:creationId xmlns:p14="http://schemas.microsoft.com/office/powerpoint/2010/main" val="5201925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882FFD5-D81F-486B-8DD1-83A5A52E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Jejak kejadian penting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735128-5B31-4FC1-AD07-5D1B5922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F2F1F4-7D9A-4F15-A731-A4486E34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31EBD2-4938-4DED-84D4-FB1409CA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Audit mencatat pelaku, waktu, objek dan alasan perubahan yang relevan.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2BA8CB-1E7A-4936-891B-1EFDF579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9431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Riwayat mencakup layanan, pembayaran, chat, laporan SOP dan pembukaan materi.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7E9BA34-1227-4FAE-83A1-7670B7B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6263"/>
            <a:ext cx="3495675" cy="1078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Log lokal belum mempunyai perlindungan tahan manipulasi untuk produksi.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72A5-8006-417B-A81F-492CC4262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e7863e9f84e4c"/>
          <a:srcRect xmlns:a="http://schemas.openxmlformats.org/drawingml/2006/main" l="19000" t="14000" r="2000" b="7000"/>
          <a:stretch xmlns:a="http://schemas.openxmlformats.org/drawingml/2006/main"/>
        </p:blipFill>
        <p:spPr>
          <a:xfrm xmlns:a="http://schemas.openxmlformats.org/drawingml/2006/main">
            <a:off x="4438650" y="1866260"/>
            <a:ext cx="7143750" cy="40208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751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B8424E5-DC8C-48C8-95D5-7BBF9B42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Dasar teknis dan hasil pengujian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1BEBCC-5361-48B6-8F77-4EDB9B3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2B1A66-8866-4536-AD0B-F8B7CED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5ACA11-1A54-425C-B24A-4B5E223C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defPPr>
            <a:lvl1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1pPr>
            <a:lvl2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2pPr>
            <a:lvl3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3pPr>
            <a:lvl4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4pPr>
            <a:lvl5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5pPr>
            <a:lvl6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6pPr>
            <a:lvl7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7pPr>
            <a:lvl8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8pPr>
            <a:lvl9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3463C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3463C"/>
                </a:solidFill>
                <a:latin typeface="Segoe UI"/>
                <a:ea typeface="Segoe UI"/>
                <a:cs typeface="Segoe UI"/>
              </a:rPr>
              <a:t>125 tes backend lulus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8CC3D-28AF-4121-9D3F-4EB3DCB4AA80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8496300"/>
              </a:tblGrid>
              <a:tr h="60579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BUKTI PEMERIKSAAN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60579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Akses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Peran, organisasi, kepemilikan data dan sesi pasien terpisah.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0579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Alur layanan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Penerimaan, produksi, QC, tanggal, dokter dan FAT.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60579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Keandalan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Permintaan berulang, satu petugas dan konflik revisi.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0579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Pencatatan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Audit, migrasi, versi laporan dan lampiran privat.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C853AD8-3284-484D-892F-57FCF1E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FastAPI dan SQLAlchemy, SQLite lokal, empat migrasi Alembic. Tampilan HTML, CSS dan JavaScript tanpa build.</a:t>
            </a:r>
          </a:p>
        </p:txBody>
      </p:sp>
    </p:spTree>
    <p:extLst>
      <p:ext uri="{BB962C8B-B14F-4D97-AF65-F5344CB8AC3E}">
        <p14:creationId xmlns:p14="http://schemas.microsoft.com/office/powerpoint/2010/main" val="8159195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234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79B9042-1441-4F6D-8C7B-47A6A1F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CF9E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CF9EF"/>
                </a:solidFill>
                <a:latin typeface="Segoe UI"/>
                <a:ea typeface="Segoe UI"/>
                <a:cs typeface="Segoe UI"/>
              </a:rPr>
              <a:t>Batas demo dan langkah berikutnya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231ADA-2693-4D69-B0AC-F1DB0866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5D0BD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C5D0BD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031F1C-D1A6-49EA-89AB-DD6460A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C69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D7C698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1B592D-FCE0-479B-9452-301123FE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9C595"/>
                </a:solidFill>
                <a:latin typeface="Segoe UI"/>
                <a:ea typeface="Segoe UI"/>
                <a:cs typeface="Segoe UI"/>
              </a:rPr>
              <a:t>Layanan eksternal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172F60A-B87E-4D5A-B62D-EEA2AEC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E1E7D8"/>
                </a:solidFill>
                <a:latin typeface="Segoe UI"/>
                <a:ea typeface="Segoe UI"/>
                <a:cs typeface="Segoe UI"/>
              </a:rPr>
              <a:t>AI, bank, WhatsApp, SMS dan email belum terhubung.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42BCC6-882A-44CE-82CE-A62BC32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9C595"/>
                </a:solidFill>
                <a:latin typeface="Segoe UI"/>
                <a:ea typeface="Segoe UI"/>
                <a:cs typeface="Segoe UI"/>
              </a:rPr>
              <a:t>SOP dan organisasi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2CEDA6A-FCEA-4F28-B556-39E61F5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E1E7D8"/>
                </a:solidFill>
                <a:latin typeface="Segoe UI"/>
                <a:ea typeface="Segoe UI"/>
                <a:cs typeface="Segoe UI"/>
              </a:rPr>
              <a:t>Masih draf untuk ditelaah pemilik proses dan penanggung jawab divisi.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0D1F91B-F9B1-4164-B886-86D529E2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9C595"/>
                </a:solidFill>
                <a:latin typeface="Segoe UI"/>
                <a:ea typeface="Segoe UI"/>
                <a:cs typeface="Segoe UI"/>
              </a:rPr>
              <a:t>Pelatihan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5B52E87-02A0-4544-8B25-FAC816E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E1E7D8"/>
                </a:solidFill>
                <a:latin typeface="Segoe UI"/>
                <a:ea typeface="Segoe UI"/>
                <a:cs typeface="Segoe UI"/>
              </a:rPr>
              <a:t>Materi baca dan latihan laporan sudah ada. Ujian dan sertifikat belum dibuat.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556B599-4EE2-46FA-97FE-A54AA646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9C59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D9C595"/>
                </a:solidFill>
                <a:latin typeface="Segoe UI"/>
                <a:ea typeface="Segoe UI"/>
                <a:cs typeface="Segoe UI"/>
              </a:rPr>
              <a:t>Operasional nyata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417C4D2-895D-4365-9B98-CB980E6C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1E7D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E1E7D8"/>
                </a:solidFill>
                <a:latin typeface="Segoe UI"/>
                <a:ea typeface="Segoe UI"/>
                <a:cs typeface="Segoe UI"/>
              </a:rPr>
              <a:t>Identitas, persetujuan, keamanan, backup dan integrasi perlu verifikasi lanjutan.</a:t>
            </a:r>
          </a:p>
        </p:txBody>
      </p:sp>
    </p:spTree>
    <p:extLst>
      <p:ext uri="{BB962C8B-B14F-4D97-AF65-F5344CB8AC3E}">
        <p14:creationId xmlns:p14="http://schemas.microsoft.com/office/powerpoint/2010/main" val="10570251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78D0511-FE73-467D-9877-A9AC137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Urutan demonstrasi saat presentasi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F7E259-AC7E-483C-89A2-6CD601DC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C7DCC2-B0F1-44EF-8D84-35F6ED91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99A3B-EC23-4439-8093-1E95F730F255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314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9258300"/>
              </a:tblGrid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LANGKAH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AKUN DAN BAGIAN YANG DIBUKA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Resepsionis: pasien, jadwal dan pencatatan penerimaan.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Dokter, Lab dan teknisi: surat kerja sampai progres produksi.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QC dan FAT: pemeriksaan hasil dan penerimaan secara terpisah.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Pasien di /pasien: layanan, jadwal dan bantuan sampai petugas.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IT: materi divisi, checklist dan lampiran laporan.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616404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Direktur: ringkasan, peninjauan dan jejak audit.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3628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37D49BF-E32F-41C1-90A1-DDA215EF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Akun latihan 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14AF0F-0E4D-4F36-8B7B-5E654FD7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6339AE-9694-40FB-B138-CA5DC9D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37F98-ADB9-4AFA-BF04-66C30BE18856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52625"/>
                <a:gridCol w="3429000"/>
                <a:gridCol w="5591175"/>
              </a:tblGrid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NAMA PENGGUNA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NAMA DI APLIKASI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FUNGSI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resepsionis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Resepsionis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Registrasi, jadwal dan penerimaan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dokter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Dokter Klinik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Surat kerja klinik dan order terkait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 Lab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Penerimaan dan rencana pekerjaan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teknisi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Teknisi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Progres order yang ditugaskan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qc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QC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hasil dan rework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fat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FAT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Verifikasi penerimaan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Ringkasan, peninjauan dan audit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072544C-EBA9-4489-81B0-630E8959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Kata sandi latihan: DemoNAM2026!  Nama ini tidak menetapkan pejabat organisasi.</a:t>
            </a:r>
          </a:p>
        </p:txBody>
      </p:sp>
    </p:spTree>
    <p:extLst>
      <p:ext uri="{BB962C8B-B14F-4D97-AF65-F5344CB8AC3E}">
        <p14:creationId xmlns:p14="http://schemas.microsoft.com/office/powerpoint/2010/main" val="7160204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74944EE-B680-4F77-BFC8-86350D0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Akun latihan 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C4A582-A1EA-45E0-BE96-7FDE476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86A316-6169-40F3-8DDA-6041B85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6790C-700B-4BF7-9EAD-C0FDFA2AAA27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52625"/>
                <a:gridCol w="3429000"/>
                <a:gridCol w="5591175"/>
              </a:tblGrid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NAMA PENGGUNA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NAMA DI APLIKASI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FUNGSI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mitra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 Mitra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Order organisasi mitra sendiri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pasien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Pasien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Portal pasien di /pasien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IT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Layanan teknis dan SOP IT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dokter2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Dokter Klinik 2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Surat kerja klinik dan order terkait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lab2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 Lab 2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Penerimaan dan rencana pekerjaan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perawat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Perawat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dan laporan perawat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47688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cadcam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CAD CAM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dan laporan CAD/CAM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6995D45-371C-4EE5-AE73-0748C89F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Kata sandi latihan: DemoNAM2026!  Nama ini tidak menetapkan pejabat organisasi.</a:t>
            </a:r>
          </a:p>
        </p:txBody>
      </p:sp>
    </p:spTree>
    <p:extLst>
      <p:ext uri="{BB962C8B-B14F-4D97-AF65-F5344CB8AC3E}">
        <p14:creationId xmlns:p14="http://schemas.microsoft.com/office/powerpoint/2010/main" val="12340185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8638B50-779B-43F6-9C94-099F3CA4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Akun latihan 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CA41F3-973B-4BB2-B797-2CA1F4E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F6621A-B134-4D32-9145-0E9B627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6F237-F0CA-4A3C-86AD-816DD7C80C59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52625"/>
                <a:gridCol w="3429000"/>
                <a:gridCol w="5591175"/>
              </a:tblGrid>
              <a:tr h="730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NAMA PENGGUNA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NAMA DI APLIKASI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FUNGSI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730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Customer Service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Kotak masuk bantuan pasien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730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gudang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Gudang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dan laporan gudang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730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purchasing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Purchasing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dan laporan pembelian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730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HR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Materi, laporan dan pemetaan jabatan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7302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Materi dan laporan marketing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FBB14ED-92CC-4628-BFF6-E348CA07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Kata sandi latihan: DemoNAM2026!  Nama ini tidak menetapkan pejabat organisasi.</a:t>
            </a:r>
          </a:p>
        </p:txBody>
      </p:sp>
    </p:spTree>
    <p:extLst>
      <p:ext uri="{BB962C8B-B14F-4D97-AF65-F5344CB8AC3E}">
        <p14:creationId xmlns:p14="http://schemas.microsoft.com/office/powerpoint/2010/main" val="997301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EA12FA6-FF31-4B28-A819-2134BF6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draf SOP 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36E097-5228-49AF-A707-50525256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111B0C-D2B6-4084-8D9A-BE59E1EA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A49C5-9047-41DF-95CE-FE7D1A638E98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76375"/>
                <a:gridCol w="9496425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KODE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JUDUL SOP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GOV-01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Pengawasan dan tindak lanjut manajemen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Evaluasi direksi dan keputusan operasional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OPS-01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Pembukaan, koordinasi, dan penutupan operasional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BIZ-01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Penjajakan kerja sama dan klinik mitra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COR-01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Pengendalian dokumen corporate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HR-01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Jadwal, kompetensi, dan serah terima personel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GA-01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fasilitas dan pemeliharaan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HK-01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Kebersihan area dan serah terima housekeeping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DE0A228-A6E6-4E1A-BDCC-3CAA9FB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Draf 1.0. Belum menjadi pengesahan prosedur klinis atau kebijakan keuangan.</a:t>
            </a:r>
          </a:p>
        </p:txBody>
      </p:sp>
    </p:spTree>
    <p:extLst>
      <p:ext uri="{BB962C8B-B14F-4D97-AF65-F5344CB8AC3E}">
        <p14:creationId xmlns:p14="http://schemas.microsoft.com/office/powerpoint/2010/main" val="179757447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E34F8A0-A851-404F-997C-896BE10B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draf SOP 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B69397-27BB-4581-996D-DD7B3C6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26D584-00BC-4C25-8010-D06259AB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39549-B316-485C-A608-A4CD004B4715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76375"/>
                <a:gridCol w="9496425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KODE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JUDUL SOP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IT-01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layanan dan pengelolaan akses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FO-01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Registrasi dan pembukaan layanan pasien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CLI-01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administratif surat kerja dokter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NUR-01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Kesiapan ruang dan bantuan pelayanan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Penerimaan dan perencanaan order Lab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LAB-02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Pengerjaan, bahan, dan progres produksi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CAD-01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Pengendalian desain CAD/CAM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QC-01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teknis dan pencatatan ketidaksesuaian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5EE10E9-C0C3-48DF-AE9C-504F03F7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Draf 1.0. Belum menjadi pengesahan prosedur klinis atau kebijakan keuangan.</a:t>
            </a:r>
          </a:p>
        </p:txBody>
      </p:sp>
    </p:spTree>
    <p:extLst>
      <p:ext uri="{BB962C8B-B14F-4D97-AF65-F5344CB8AC3E}">
        <p14:creationId xmlns:p14="http://schemas.microsoft.com/office/powerpoint/2010/main" val="22278087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9D3BBB0-0449-42E5-9169-9028239D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draf SOP 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DBB635F-FB70-46A1-99D6-E8A488BD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79C53E-9058-40A6-B437-050B9161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2847-A8A4-4B13-8F6E-E8C4BA6ECD9F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76375"/>
                <a:gridCol w="9496425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KODE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JUDUL SOP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ETA-01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Keterlambatan dan usulan perubahan komitmen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HND-01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Persiapan dan bukti serah terima hasil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FIN-01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Pencatatan tagihan dan penerimaan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FIN-02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Verifikasi dan rekonsiliasi penerimaan demo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INS-01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Kelengkapan administrasi asuransi dan corporate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PRC-01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Permintaan, pembelian, dan penerimaan barang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INV-01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stok dan serah terima bahan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CS-01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Bantuan asisten dan pengalihan ke petugas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E98823A-57CD-4D3C-91DD-6C0DF9E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Draf 1.0. Belum menjadi pengesahan prosedur klinis atau kebijakan keuangan.</a:t>
            </a:r>
          </a:p>
        </p:txBody>
      </p:sp>
    </p:spTree>
    <p:extLst>
      <p:ext uri="{BB962C8B-B14F-4D97-AF65-F5344CB8AC3E}">
        <p14:creationId xmlns:p14="http://schemas.microsoft.com/office/powerpoint/2010/main" val="12140404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7B3F5E8-E7C2-438E-B86C-F3FEFA42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draf SOP 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84D553-7D39-41CA-A3BC-5F55D264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15C297-9AF2-4292-9861-3D0B709B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DB1DB-DF25-4473-8414-CDADAB05CB50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76375"/>
                <a:gridCol w="9496425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KODE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JUDUL SOP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MKT-01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Perencanaan dan peninjauan materi pemasaran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EDT-01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dan revisi materi kreatif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SLS-01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Tindak lanjut prospek dan penawaran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CLI-02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Koordinasi dan kesiapan pelayanan Klinik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FIN-03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Permintaan pengecualian keuangan dan koreksi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COM-01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Pemeriksaan izin dan komunikasi layanan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CMP-01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Pencatatan keluhan dan tindak lanjut layanan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INC-01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Pencatatan insiden dan tindakan perbaikan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2A9C5B6-DB75-4756-9D6E-5EC8285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Draf 1.0. Belum menjadi pengesahan prosedur klinis atau kebijakan keuangan.</a:t>
            </a:r>
          </a:p>
        </p:txBody>
      </p:sp>
    </p:spTree>
    <p:extLst>
      <p:ext uri="{BB962C8B-B14F-4D97-AF65-F5344CB8AC3E}">
        <p14:creationId xmlns:p14="http://schemas.microsoft.com/office/powerpoint/2010/main" val="70193199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F421A4F-E36A-47EF-900E-AF1294C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jabatan 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58EC22-AEE2-4EA6-91DC-E6E1FC1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F36DF5-9358-44E5-978B-8051903B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5A7CB-CB91-44D4-BFCF-6DDB9D400D5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3714750"/>
                <a:gridCol w="3733800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JABATAN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MELAPOR KE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BAGIAN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Komisaris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Puncak pengawasan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Pengawasan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 Utama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Komisaris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 Utama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Development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Pengembangan Bisnis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Auditor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Komisaris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Pengawasan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Corporate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Corporate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BC3B836-FF3F-4536-9901-64983F45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Struktur berisi 31 jabatan. Posisi tanpa akun tetap Belum diisi dalam aplikasi.</a:t>
            </a:r>
          </a:p>
        </p:txBody>
      </p:sp>
    </p:spTree>
    <p:extLst>
      <p:ext uri="{BB962C8B-B14F-4D97-AF65-F5344CB8AC3E}">
        <p14:creationId xmlns:p14="http://schemas.microsoft.com/office/powerpoint/2010/main" val="3324072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0D35573-3A5A-4694-B54A-5C019367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jabatan 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6DFA61-3FD7-44DF-94BE-ECE8B743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EB3F45-7A85-4A37-B371-C2E76C4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9D58E-BC48-4FDA-AC28-292664F8718C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3714750"/>
                <a:gridCol w="3733800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JABATAN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MELAPOR KE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BAGIAN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IC / GA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General Affairs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FAT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FAT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Insurance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Asuransi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Direktur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Operasional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Procurement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Pengadaan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Branch Head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Cabang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Branch Manager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Branch Head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Cabang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Kepala Lab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Laboratorium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BB7233A-6CD3-4124-A0E1-31C0387F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Struktur berisi 31 jabatan. Posisi tanpa akun tetap Belum diisi dalam aplikasi.</a:t>
            </a:r>
          </a:p>
        </p:txBody>
      </p:sp>
    </p:spTree>
    <p:extLst>
      <p:ext uri="{BB962C8B-B14F-4D97-AF65-F5344CB8AC3E}">
        <p14:creationId xmlns:p14="http://schemas.microsoft.com/office/powerpoint/2010/main" val="137652475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91376E1-64A0-484B-A1E4-A18381B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jabatan 3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BCECBD-825D-49B5-B9A9-46E6D40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C8FBE5-A228-423B-90A4-503B6837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D9656-58C1-4268-998F-F18205FCDC69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3714750"/>
                <a:gridCol w="3733800"/>
              </a:tblGrid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JABATAN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MELAPOR KE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BAGIAN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Senior Lab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Kepala Lab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Laboratorium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Kepala Klinik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and Sales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&amp;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Editor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and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&amp;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Content Planner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and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&amp;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Sales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and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&amp; Sales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Customer Service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Layanan Pelanggan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49212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Resepsionis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Front Office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12488BA-7530-45F8-BD66-775939F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Struktur berisi 31 jabatan. Posisi tanpa akun tetap Belum diisi dalam aplikasi.</a:t>
            </a:r>
          </a:p>
        </p:txBody>
      </p:sp>
    </p:spTree>
    <p:extLst>
      <p:ext uri="{BB962C8B-B14F-4D97-AF65-F5344CB8AC3E}">
        <p14:creationId xmlns:p14="http://schemas.microsoft.com/office/powerpoint/2010/main" val="15496041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6E275A3-87F5-4D76-82E7-582F8FA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3F3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253F35"/>
                </a:solidFill>
                <a:latin typeface="Segoe UI"/>
                <a:ea typeface="Segoe UI"/>
                <a:cs typeface="Segoe UI"/>
              </a:rPr>
              <a:t>Daftar jabatan 4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B86D81-E79D-437F-816C-04D88BCD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NAM DMS   Demo lokal 0.4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2AD4E7-AB02-478C-95B2-00EDC913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48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D1DF6-01C7-48DF-B332-AD52F67B4968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429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3714750"/>
                <a:gridCol w="3733800"/>
              </a:tblGrid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JABATAN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MELAPOR KE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CF9EF"/>
                          </a:solidFill>
                          <a:latin typeface="Segoe UI"/>
                          <a:ea typeface="Segoe UI"/>
                          <a:cs typeface="Segoe UI"/>
                        </a:rPr>
                        <a:t>BAGIAN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T w="4763">
                      <a:solidFill>
                        <a:srgbClr val="D5DBCC"/>
                      </a:solidFill>
                      <a:prstDash val="solid"/>
                    </a:lnT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23463C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Housekeeping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IC / GA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General Affairs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Dokter Gigi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Kepala Klinik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Perawat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Kepala Klinik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Klinik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Teknisi Lab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Senior Lab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Laboratorium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CAD/CAM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Senior Lab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Laboratorium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Quality Control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Kepala Lab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Quality Control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553641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Gudang</a:t>
                      </a:r>
                    </a:p>
                  </a:txBody>
                  <a:tcPr marL="133350" marR="133350" marT="85725" marB="85725" anchor="ctr">
                    <a:lnL w="4763">
                      <a:solidFill>
                        <a:srgbClr val="D5DBCC"/>
                      </a:solidFill>
                      <a:prstDash val="solid"/>
                    </a:lnL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53F35"/>
                          </a:solidFill>
                          <a:latin typeface="Segoe UI"/>
                          <a:ea typeface="Segoe UI"/>
                          <a:cs typeface="Segoe UI"/>
                        </a:rPr>
                        <a:t>Gudang</a:t>
                      </a:r>
                    </a:p>
                  </a:txBody>
                  <a:tcPr marL="133350" marR="133350" marT="85725" marB="85725" anchor="ctr">
                    <a:lnR w="4763">
                      <a:solidFill>
                        <a:srgbClr val="D5DBCC"/>
                      </a:solidFill>
                      <a:prstDash val="solid"/>
                    </a:lnR>
                    <a:lnB w="4763">
                      <a:solidFill>
                        <a:srgbClr val="D5DBCC"/>
                      </a:solidFill>
                      <a:prstDash val="soli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94650E8-4169-4B98-A7AC-1C29A86F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0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0705F"/>
                </a:solidFill>
                <a:latin typeface="Segoe UI"/>
                <a:ea typeface="Segoe UI"/>
                <a:cs typeface="Segoe UI"/>
              </a:rPr>
              <a:t>Struktur berisi 31 jabatan. Posisi tanpa akun tetap Belum diisi dalam aplikasi.</a:t>
            </a:r>
          </a:p>
        </p:txBody>
      </p:sp>
    </p:spTree>
    <p:extLst>
      <p:ext uri="{BB962C8B-B14F-4D97-AF65-F5344CB8AC3E}">
        <p14:creationId xmlns:p14="http://schemas.microsoft.com/office/powerpoint/2010/main" val="683849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2026-10-19T18:39:24.1780000Z</dcterms:created>
  <dcterms:modified xsi:type="dcterms:W3CDTF">2026-10-19T18:39:24.1780000Z</dcterms:modified>
</coreProperties>
</file>